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7A6E60"/>
                </a:solidFill>
                <a:latin typeface="Calibri"/>
              </a:defRPr>
            </a:pPr>
            <a:r>
              <a:rPr sz="1200" b="0" i="0" u="none" strike="noStrike">
                <a:solidFill>
                  <a:srgbClr val="7A6E60"/>
                </a:solidFill>
                <a:latin typeface="Calibri"/>
              </a:rPr>
              <a:t>Attendance, last 6 months</a:t>
            </a:r>
          </a:p>
        </c:rich>
      </c:tx>
      <c:layout/>
      <c:overlay val="0"/>
    </c:title>
    <c:autoTitleDeleted val="0"/>
    <c:plotArea>
      <c:layout/>
      <c:barChart>
        <c:barDir val="col"/>
        <c:grouping val="clustered"/>
        <c:varyColors val="0"/>
        <c:ser>
          <c:idx val="0"/>
          <c:order val="0"/>
          <c:tx>
            <c:strRef>
              <c:f>Sheet1!$B$1</c:f>
              <c:strCache>
                <c:ptCount val="1"/>
                <c:pt idx="0">
                  <c:v>Check-ins</c:v>
                </c:pt>
              </c:strCache>
            </c:strRef>
          </c:tx>
          <c:spPr>
            <a:solidFill>
              <a:srgbClr val="C97B1A"/>
            </a:solidFill>
            <a:effectLst/>
          </c:spPr>
          <c:invertIfNegative val="0"/>
          <c:dLbls>
            <c:numFmt formatCode="#,##0" sourceLinked="0"/>
            <c:txPr>
              <a:bodyPr/>
              <a:lstStyle/>
              <a:p>
                <a:pPr>
                  <a:defRPr b="0" i="0" strike="noStrike" sz="1000" u="none">
                    <a:solidFill>
                      <a:srgbClr val="16243A"/>
                    </a:solidFill>
                    <a:latin typeface="Calibri"/>
                  </a:defRPr>
                </a:pPr>
              </a:p>
            </c:txPr>
            <c:showLegendKey val="0"/>
            <c:showVal val="1"/>
            <c:showCatName val="0"/>
            <c:showSerName val="0"/>
            <c:showPercent val="0"/>
            <c:showBubbleSize val="0"/>
            <c:showLeaderLines val="0"/>
          </c:dLbls>
          <c:cat>
            <c:multiLvlStrRef>
              <c:f>Sheet1!$A$2:$A$7</c:f>
              <c:multiLvlStrCache>
                <c:ptCount val="6"/>
                <c:lvl>
                  <c:pt idx="0">
                    <c:v>Feb</c:v>
                  </c:pt>
                  <c:pt idx="1">
                    <c:v>Mar</c:v>
                  </c:pt>
                  <c:pt idx="2">
                    <c:v>Apr</c:v>
                  </c:pt>
                  <c:pt idx="3">
                    <c:v>May</c:v>
                  </c:pt>
                  <c:pt idx="4">
                    <c:v>Jun</c:v>
                  </c:pt>
                  <c:pt idx="5">
                    <c:v>Jul</c:v>
                  </c:pt>
                </c:lvl>
              </c:multiLvlStrCache>
            </c:multiLvlStrRef>
          </c:cat>
          <c:val>
            <c:numRef>
              <c:f>Sheet1!$B$2:$B$7</c:f>
              <c:numCache>
                <c:formatCode>General</c:formatCode>
                <c:ptCount val="6"/>
                <c:pt idx="0">
                  <c:v>103</c:v>
                </c:pt>
                <c:pt idx="1">
                  <c:v>116</c:v>
                </c:pt>
                <c:pt idx="2">
                  <c:v>88</c:v>
                </c:pt>
                <c:pt idx="3">
                  <c:v>130</c:v>
                </c:pt>
                <c:pt idx="4">
                  <c:v>148</c:v>
                </c:pt>
                <c:pt idx="5">
                  <c:v>158</c:v>
                </c:pt>
              </c:numCache>
            </c:numRef>
          </c:val>
        </c:ser>
        <c:dLbls>
          <c:numFmt formatCode="#,##0" sourceLinked="0"/>
          <c:txPr>
            <a:bodyPr/>
            <a:lstStyle/>
            <a:p>
              <a:pPr>
                <a:defRPr b="0" i="0" strike="noStrike" sz="1000" u="none">
                  <a:solidFill>
                    <a:srgbClr val="16243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A6E6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FED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89D8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WeMotiply — together, we multiply. This deck walks the product in the order a church actually meets it: the kiosk at the door first, then everything that flows from it. Eleven slides, about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product in one sentence before any detail: there are only two screens. The kiosk faces the congregation. The dashboard faces the pastor or administrator. Everything else in this deck hangs off those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kiosk is the only screen the congregation ever sees. Two buttons, deliberately. The offline point is worth pausing on: this is not a promise, it is built — check-ins are stored on the tablet and pushed up when the network returns, so a dropped wifi signal mid-service never turns anyone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an administrator keeps open during a service. The point to make: nobody is typing any of this. Every name on the right appeared because a person tapped a tablet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this list builds itself. Nobody sat down and typed a membership register — the roster is a by-product of people checking in. Roles are the one thing an administrator sets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Giving is where trust is won or lost. The receipt sending itself the moment a gift is recorded is the detail churches react to most — it removes an awkward manual step and gives the giver something immediate.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"why not a notebook." A register tells you who came. This tells you whether the church is growing, and names the people who have quietly stopped coming while there is still time to reach them. Year-over-year comparison is here too, so a church can hold one year against the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three messages is written to feel like a different kind of message, not one template with the words swapped. The we-miss-you note in particular is sent as a plain personal letter rather than a branded card, because it has to read like a person 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is a five-minute, one-time job. The time zone line matters more than it sounds: it decides what counts as today and this month in every report, and which day birthday emails go out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price, deliberately. A church deciding whether to adopt software at all does not also want to decode three tiers. Mobile Money matters here — it is how most Ghanaian churches actually pay, and it is supported directly through Paystack rather than requiring a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whole loop: a visitor taps a tablet, and everything after that — the roster, the receipt, the follow-up email, the Monday report — happens without anyone typing. Fourteen days free, no card, and they can be running before their next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0"/>
        </a:solidFill>
      </p:bgPr>
    </p:bg>
    <p:spTree>
      <p:nvGrpSpPr>
        <p:cNvPr id="1" name=""/>
        <p:cNvGrpSpPr/>
        <p:nvPr/>
      </p:nvGrpSpPr>
      <p:grpSpPr>
        <a:xfrm>
          <a:off x="0" y="0"/>
          <a:ext cx="0" cy="0"/>
          <a:chOff x="0" y="0"/>
          <a:chExt cx="0" cy="0"/>
        </a:xfrm>
      </p:grpSpPr>
      <p:sp>
        <p:nvSpPr>
          <p:cNvPr id="2" name="Shape 0"/>
          <p:cNvSpPr/>
          <p:nvPr/>
        </p:nvSpPr>
        <p:spPr>
          <a:xfrm>
            <a:off x="7863840" y="-2011680"/>
            <a:ext cx="6858000" cy="6858000"/>
          </a:xfrm>
          <a:prstGeom prst="ellipse">
            <a:avLst/>
          </a:prstGeom>
          <a:solidFill>
            <a:srgbClr val="16243A">
              <a:alpha val="45000"/>
            </a:srgbClr>
          </a:solidFill>
          <a:ln w="12700">
            <a:solidFill>
              <a:srgbClr val="16243A">
                <a:alpha val="0"/>
              </a:srgbClr>
            </a:solidFill>
            <a:prstDash val="solid"/>
          </a:ln>
        </p:spPr>
      </p:sp>
      <p:sp>
        <p:nvSpPr>
          <p:cNvPr id="3" name="Text 1"/>
          <p:cNvSpPr/>
          <p:nvPr/>
        </p:nvSpPr>
        <p:spPr>
          <a:xfrm>
            <a:off x="822960" y="1920240"/>
            <a:ext cx="8229600" cy="822960"/>
          </a:xfrm>
          <a:prstGeom prst="rect">
            <a:avLst/>
          </a:prstGeom>
          <a:noFill/>
          <a:ln/>
        </p:spPr>
        <p:txBody>
          <a:bodyPr wrap="square" lIns="0" tIns="0" rIns="0" bIns="0" rtlCol="0" anchor="ctr"/>
          <a:lstStyle/>
          <a:p>
            <a:pPr indent="0" marL="0">
              <a:buNone/>
            </a:pPr>
            <a:r>
              <a:rPr lang="en-US" sz="5200" b="1" dirty="0">
                <a:solidFill>
                  <a:srgbClr val="F0A832"/>
                </a:solidFill>
                <a:latin typeface="Cambria" pitchFamily="34" charset="0"/>
                <a:ea typeface="Cambria" pitchFamily="34" charset="-122"/>
                <a:cs typeface="Cambria" pitchFamily="34" charset="-120"/>
              </a:rPr>
              <a:t>We</a:t>
            </a:r>
            <a:pPr indent="0" marL="0">
              <a:buNone/>
            </a:pPr>
            <a:r>
              <a:rPr lang="en-US" sz="5200" b="1" dirty="0">
                <a:solidFill>
                  <a:srgbClr val="FFFFFF"/>
                </a:solidFill>
                <a:latin typeface="Cambria" pitchFamily="34" charset="0"/>
                <a:ea typeface="Cambria" pitchFamily="34" charset="-122"/>
                <a:cs typeface="Cambria" pitchFamily="34" charset="-120"/>
              </a:rPr>
              <a:t>Motiply</a:t>
            </a:r>
            <a:endParaRPr lang="en-US" sz="5200" dirty="0"/>
          </a:p>
        </p:txBody>
      </p:sp>
      <p:sp>
        <p:nvSpPr>
          <p:cNvPr id="4" name="Text 2"/>
          <p:cNvSpPr/>
          <p:nvPr/>
        </p:nvSpPr>
        <p:spPr>
          <a:xfrm>
            <a:off x="868680" y="2743200"/>
            <a:ext cx="8229600" cy="365760"/>
          </a:xfrm>
          <a:prstGeom prst="rect">
            <a:avLst/>
          </a:prstGeom>
          <a:noFill/>
          <a:ln/>
        </p:spPr>
        <p:txBody>
          <a:bodyPr wrap="square" lIns="0" tIns="0" rIns="0" bIns="0" rtlCol="0" anchor="ctr"/>
          <a:lstStyle/>
          <a:p>
            <a:pPr indent="0" marL="0">
              <a:buNone/>
            </a:pPr>
            <a:r>
              <a:rPr lang="en-US" sz="1900" i="1" dirty="0">
                <a:solidFill>
                  <a:srgbClr val="F0A832"/>
                </a:solidFill>
                <a:latin typeface="Cambria" pitchFamily="34" charset="0"/>
                <a:ea typeface="Cambria" pitchFamily="34" charset="-122"/>
                <a:cs typeface="Cambria" pitchFamily="34" charset="-120"/>
              </a:rPr>
              <a:t>Together, we multiply.</a:t>
            </a:r>
            <a:endParaRPr lang="en-US" sz="1900" dirty="0"/>
          </a:p>
        </p:txBody>
      </p:sp>
      <p:sp>
        <p:nvSpPr>
          <p:cNvPr id="5" name="Text 3"/>
          <p:cNvSpPr/>
          <p:nvPr/>
        </p:nvSpPr>
        <p:spPr>
          <a:xfrm>
            <a:off x="822960" y="3429000"/>
            <a:ext cx="6949440" cy="822960"/>
          </a:xfrm>
          <a:prstGeom prst="rect">
            <a:avLst/>
          </a:prstGeom>
          <a:noFill/>
          <a:ln/>
        </p:spPr>
        <p:txBody>
          <a:bodyPr wrap="square" lIns="0" tIns="0" rIns="0" bIns="0" rtlCol="0" anchor="ctr"/>
          <a:lstStyle/>
          <a:p>
            <a:pPr indent="0" marL="0">
              <a:buNone/>
            </a:pPr>
            <a:r>
              <a:rPr lang="en-US" sz="1500" dirty="0">
                <a:solidFill>
                  <a:srgbClr val="B9C2CF"/>
                </a:solidFill>
                <a:latin typeface="Calibri" pitchFamily="34" charset="0"/>
                <a:ea typeface="Calibri" pitchFamily="34" charset="-122"/>
                <a:cs typeface="Calibri" pitchFamily="34" charset="-120"/>
              </a:rPr>
              <a:t>From the moment a visitor walks in, to the insight you get on Monday — every part of the platform, in the order you will use it.</a:t>
            </a:r>
            <a:endParaRPr lang="en-US" sz="1500" dirty="0"/>
          </a:p>
        </p:txBody>
      </p:sp>
      <p:sp>
        <p:nvSpPr>
          <p:cNvPr id="6" name="Text 4"/>
          <p:cNvSpPr/>
          <p:nvPr/>
        </p:nvSpPr>
        <p:spPr>
          <a:xfrm>
            <a:off x="822960" y="5760720"/>
            <a:ext cx="6400800" cy="320040"/>
          </a:xfrm>
          <a:prstGeom prst="rect">
            <a:avLst/>
          </a:prstGeom>
          <a:noFill/>
          <a:ln/>
        </p:spPr>
        <p:txBody>
          <a:bodyPr wrap="square" lIns="0" tIns="0" rIns="0" bIns="0" rtlCol="0" anchor="ctr"/>
          <a:lstStyle/>
          <a:p>
            <a:pPr indent="0" marL="0">
              <a:buNone/>
            </a:pPr>
            <a:r>
              <a:rPr lang="en-US" sz="1250" dirty="0">
                <a:solidFill>
                  <a:srgbClr val="7E8B9E"/>
                </a:solidFill>
                <a:latin typeface="Calibri" pitchFamily="34" charset="0"/>
                <a:ea typeface="Calibri" pitchFamily="34" charset="-122"/>
                <a:cs typeface="Calibri" pitchFamily="34" charset="-120"/>
              </a:rPr>
              <a:t>Church growth, made visible.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4EE"/>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200" kern="0" dirty="0">
                <a:solidFill>
                  <a:srgbClr val="C97B1A"/>
                </a:solidFill>
                <a:latin typeface="Calibri" pitchFamily="34" charset="0"/>
                <a:ea typeface="Calibri" pitchFamily="34" charset="-122"/>
                <a:cs typeface="Calibri" pitchFamily="34" charset="-120"/>
              </a:rPr>
              <a:t>THE BIG PICTURE</a:t>
            </a:r>
            <a:endParaRPr lang="en-US" sz="11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Two screens. That is the whole system.</a:t>
            </a:r>
            <a:endParaRPr lang="en-US" sz="3400" dirty="0"/>
          </a:p>
        </p:txBody>
      </p:sp>
      <p:sp>
        <p:nvSpPr>
          <p:cNvPr id="4" name="Shape 2"/>
          <p:cNvSpPr/>
          <p:nvPr/>
        </p:nvSpPr>
        <p:spPr>
          <a:xfrm>
            <a:off x="640080" y="1965960"/>
            <a:ext cx="5120640" cy="3200400"/>
          </a:xfrm>
          <a:prstGeom prst="roundRect">
            <a:avLst>
              <a:gd name="adj" fmla="val 2857"/>
            </a:avLst>
          </a:prstGeom>
          <a:solidFill>
            <a:srgbClr val="16243A"/>
          </a:solidFill>
          <a:ln w="12700">
            <a:solidFill>
              <a:srgbClr val="16243A"/>
            </a:solidFill>
            <a:prstDash val="solid"/>
          </a:ln>
          <a:effectLst>
            <a:outerShdw sx="100000" sy="100000" kx="0" ky="0" algn="bl" rotWithShape="0" blurRad="203200" dist="50800" dir="5400000">
              <a:srgbClr val="16243A">
                <a:alpha val="12000"/>
              </a:srgbClr>
            </a:outerShdw>
          </a:effectLst>
        </p:spPr>
      </p:sp>
      <p:sp>
        <p:nvSpPr>
          <p:cNvPr id="5" name="Text 3"/>
          <p:cNvSpPr/>
          <p:nvPr/>
        </p:nvSpPr>
        <p:spPr>
          <a:xfrm>
            <a:off x="1051560" y="2331720"/>
            <a:ext cx="4297680" cy="274320"/>
          </a:xfrm>
          <a:prstGeom prst="rect">
            <a:avLst/>
          </a:prstGeom>
          <a:noFill/>
          <a:ln/>
        </p:spPr>
        <p:txBody>
          <a:bodyPr wrap="square" lIns="0" tIns="0" rIns="0" bIns="0" rtlCol="0" anchor="ctr"/>
          <a:lstStyle/>
          <a:p>
            <a:pPr indent="0" marL="0">
              <a:buNone/>
            </a:pPr>
            <a:r>
              <a:rPr lang="en-US" sz="1050" b="1" spc="200" kern="0" dirty="0">
                <a:solidFill>
                  <a:srgbClr val="C97B1A"/>
                </a:solidFill>
                <a:latin typeface="Calibri" pitchFamily="34" charset="0"/>
                <a:ea typeface="Calibri" pitchFamily="34" charset="-122"/>
                <a:cs typeface="Calibri" pitchFamily="34" charset="-120"/>
              </a:rPr>
              <a:t>AT THE DOOR</a:t>
            </a:r>
            <a:endParaRPr lang="en-US" sz="1050" dirty="0"/>
          </a:p>
        </p:txBody>
      </p:sp>
      <p:sp>
        <p:nvSpPr>
          <p:cNvPr id="6" name="Text 4"/>
          <p:cNvSpPr/>
          <p:nvPr/>
        </p:nvSpPr>
        <p:spPr>
          <a:xfrm>
            <a:off x="1051560" y="2697480"/>
            <a:ext cx="429768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The Kiosk</a:t>
            </a:r>
            <a:endParaRPr lang="en-US" sz="2500" dirty="0"/>
          </a:p>
        </p:txBody>
      </p:sp>
      <p:sp>
        <p:nvSpPr>
          <p:cNvPr id="7" name="Text 5"/>
          <p:cNvSpPr/>
          <p:nvPr/>
        </p:nvSpPr>
        <p:spPr>
          <a:xfrm>
            <a:off x="1051560" y="3291840"/>
            <a:ext cx="4297680" cy="1280160"/>
          </a:xfrm>
          <a:prstGeom prst="rect">
            <a:avLst/>
          </a:prstGeom>
          <a:noFill/>
          <a:ln/>
        </p:spPr>
        <p:txBody>
          <a:bodyPr wrap="square" lIns="0" tIns="0" rIns="0" bIns="0" rtlCol="0" anchor="ctr"/>
          <a:lstStyle/>
          <a:p>
            <a:pPr indent="0" marL="0">
              <a:buNone/>
            </a:pPr>
            <a:r>
              <a:rPr lang="en-US" sz="1350" dirty="0">
                <a:solidFill>
                  <a:srgbClr val="B9C2CF"/>
                </a:solidFill>
                <a:latin typeface="Calibri" pitchFamily="34" charset="0"/>
                <a:ea typeface="Calibri" pitchFamily="34" charset="-122"/>
                <a:cs typeface="Calibri" pitchFamily="34" charset="-120"/>
              </a:rPr>
              <a:t>A tablet your members and visitors tap to check themselves in. No app to download, no volunteer needed to run it.</a:t>
            </a:r>
            <a:endParaRPr lang="en-US" sz="1350" dirty="0"/>
          </a:p>
        </p:txBody>
      </p:sp>
      <p:sp>
        <p:nvSpPr>
          <p:cNvPr id="8" name="Shape 6"/>
          <p:cNvSpPr/>
          <p:nvPr/>
        </p:nvSpPr>
        <p:spPr>
          <a:xfrm>
            <a:off x="6263640" y="1965960"/>
            <a:ext cx="5120640" cy="3200400"/>
          </a:xfrm>
          <a:prstGeom prst="roundRect">
            <a:avLst>
              <a:gd name="adj" fmla="val 2857"/>
            </a:avLst>
          </a:prstGeom>
          <a:solidFill>
            <a:srgbClr val="FFFFFF"/>
          </a:solidFill>
          <a:ln w="12700">
            <a:solidFill>
              <a:srgbClr val="E4DFD5"/>
            </a:solidFill>
            <a:prstDash val="solid"/>
          </a:ln>
          <a:effectLst>
            <a:outerShdw sx="100000" sy="100000" kx="0" ky="0" algn="bl" rotWithShape="0" blurRad="203200" dist="50800" dir="5400000">
              <a:srgbClr val="16243A">
                <a:alpha val="12000"/>
              </a:srgbClr>
            </a:outerShdw>
          </a:effectLst>
        </p:spPr>
      </p:sp>
      <p:sp>
        <p:nvSpPr>
          <p:cNvPr id="9" name="Text 7"/>
          <p:cNvSpPr/>
          <p:nvPr/>
        </p:nvSpPr>
        <p:spPr>
          <a:xfrm>
            <a:off x="6675120" y="2331720"/>
            <a:ext cx="4297680" cy="274320"/>
          </a:xfrm>
          <a:prstGeom prst="rect">
            <a:avLst/>
          </a:prstGeom>
          <a:noFill/>
          <a:ln/>
        </p:spPr>
        <p:txBody>
          <a:bodyPr wrap="square" lIns="0" tIns="0" rIns="0" bIns="0" rtlCol="0" anchor="ctr"/>
          <a:lstStyle/>
          <a:p>
            <a:pPr indent="0" marL="0">
              <a:buNone/>
            </a:pPr>
            <a:r>
              <a:rPr lang="en-US" sz="1050" b="1" spc="200" kern="0" dirty="0">
                <a:solidFill>
                  <a:srgbClr val="C97B1A"/>
                </a:solidFill>
                <a:latin typeface="Calibri" pitchFamily="34" charset="0"/>
                <a:ea typeface="Calibri" pitchFamily="34" charset="-122"/>
                <a:cs typeface="Calibri" pitchFamily="34" charset="-120"/>
              </a:rPr>
              <a:t>FOR YOU</a:t>
            </a:r>
            <a:endParaRPr lang="en-US" sz="1050" dirty="0"/>
          </a:p>
        </p:txBody>
      </p:sp>
      <p:sp>
        <p:nvSpPr>
          <p:cNvPr id="10" name="Text 8"/>
          <p:cNvSpPr/>
          <p:nvPr/>
        </p:nvSpPr>
        <p:spPr>
          <a:xfrm>
            <a:off x="6675120" y="2697480"/>
            <a:ext cx="4297680" cy="457200"/>
          </a:xfrm>
          <a:prstGeom prst="rect">
            <a:avLst/>
          </a:prstGeom>
          <a:noFill/>
          <a:ln/>
        </p:spPr>
        <p:txBody>
          <a:bodyPr wrap="square" lIns="0" tIns="0" rIns="0" bIns="0" rtlCol="0" anchor="ctr"/>
          <a:lstStyle/>
          <a:p>
            <a:pPr indent="0" marL="0">
              <a:buNone/>
            </a:pPr>
            <a:r>
              <a:rPr lang="en-US" sz="2500" b="1" dirty="0">
                <a:solidFill>
                  <a:srgbClr val="16243A"/>
                </a:solidFill>
                <a:latin typeface="Cambria" pitchFamily="34" charset="0"/>
                <a:ea typeface="Cambria" pitchFamily="34" charset="-122"/>
                <a:cs typeface="Cambria" pitchFamily="34" charset="-120"/>
              </a:rPr>
              <a:t>The Dashboard</a:t>
            </a:r>
            <a:endParaRPr lang="en-US" sz="2500" dirty="0"/>
          </a:p>
        </p:txBody>
      </p:sp>
      <p:sp>
        <p:nvSpPr>
          <p:cNvPr id="11" name="Text 9"/>
          <p:cNvSpPr/>
          <p:nvPr/>
        </p:nvSpPr>
        <p:spPr>
          <a:xfrm>
            <a:off x="6675120" y="3291840"/>
            <a:ext cx="4297680" cy="1280160"/>
          </a:xfrm>
          <a:prstGeom prst="rect">
            <a:avLst/>
          </a:prstGeom>
          <a:noFill/>
          <a:ln/>
        </p:spPr>
        <p:txBody>
          <a:bodyPr wrap="square" lIns="0" tIns="0" rIns="0" bIns="0" rtlCol="0" anchor="ctr"/>
          <a:lstStyle/>
          <a:p>
            <a:pPr indent="0" marL="0">
              <a:buNone/>
            </a:pPr>
            <a:r>
              <a:rPr lang="en-US" sz="1350" dirty="0">
                <a:solidFill>
                  <a:srgbClr val="7A6E60"/>
                </a:solidFill>
                <a:latin typeface="Calibri" pitchFamily="34" charset="0"/>
                <a:ea typeface="Calibri" pitchFamily="34" charset="-122"/>
                <a:cs typeface="Calibri" pitchFamily="34" charset="-120"/>
              </a:rPr>
              <a:t>Everything those check-ins create — people, giving, insight, emails — in one private admin area only you can reach.</a:t>
            </a:r>
            <a:endParaRPr lang="en-US" sz="1350" dirty="0"/>
          </a:p>
        </p:txBody>
      </p:sp>
      <p:sp>
        <p:nvSpPr>
          <p:cNvPr id="12" name="Text 10"/>
          <p:cNvSpPr/>
          <p:nvPr/>
        </p:nvSpPr>
        <p:spPr>
          <a:xfrm>
            <a:off x="640080" y="5577840"/>
            <a:ext cx="9144000" cy="320040"/>
          </a:xfrm>
          <a:prstGeom prst="rect">
            <a:avLst/>
          </a:prstGeom>
          <a:noFill/>
          <a:ln/>
        </p:spPr>
        <p:txBody>
          <a:bodyPr wrap="square" lIns="0" tIns="0" rIns="0" bIns="0" rtlCol="0" anchor="ctr"/>
          <a:lstStyle/>
          <a:p>
            <a:pPr indent="0" marL="0">
              <a:buNone/>
            </a:pPr>
            <a:r>
              <a:rPr lang="en-US" sz="1300" i="1" dirty="0">
                <a:solidFill>
                  <a:srgbClr val="A89D8E"/>
                </a:solidFill>
                <a:latin typeface="Calibri" pitchFamily="34" charset="0"/>
                <a:ea typeface="Calibri" pitchFamily="34" charset="-122"/>
                <a:cs typeface="Calibri" pitchFamily="34" charset="-120"/>
              </a:rPr>
              <a:t>The next seven slides walk through the dashboard, tab by tab.</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300" b="1" dirty="0">
                <a:solidFill>
                  <a:srgbClr val="C97B1A"/>
                </a:solidFill>
                <a:latin typeface="Calibri" pitchFamily="34" charset="0"/>
                <a:ea typeface="Calibri" pitchFamily="34" charset="-122"/>
                <a:cs typeface="Calibri" pitchFamily="34" charset="-120"/>
              </a:rPr>
              <a:t>1</a:t>
            </a:r>
            <a:pPr indent="0" marL="0">
              <a:buNone/>
            </a:pPr>
            <a:r>
              <a:rPr lang="en-US" sz="1100" b="1" spc="200" kern="0" dirty="0">
                <a:solidFill>
                  <a:srgbClr val="A89D8E"/>
                </a:solidFill>
                <a:latin typeface="Calibri" pitchFamily="34" charset="0"/>
                <a:ea typeface="Calibri" pitchFamily="34" charset="-122"/>
                <a:cs typeface="Calibri" pitchFamily="34" charset="-120"/>
              </a:rPr>
              <a:t>   CHECK-IN</a:t>
            </a:r>
            <a:endParaRPr lang="en-US" sz="1300" dirty="0"/>
          </a:p>
        </p:txBody>
      </p:sp>
      <p:sp>
        <p:nvSpPr>
          <p:cNvPr id="3" name="Text 1"/>
          <p:cNvSpPr/>
          <p:nvPr/>
        </p:nvSpPr>
        <p:spPr>
          <a:xfrm>
            <a:off x="640080" y="777240"/>
            <a:ext cx="7680960" cy="59436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The Check-in Kiosk</a:t>
            </a:r>
            <a:endParaRPr lang="en-US" sz="3400" dirty="0"/>
          </a:p>
        </p:txBody>
      </p:sp>
      <p:sp>
        <p:nvSpPr>
          <p:cNvPr id="4" name="Text 2"/>
          <p:cNvSpPr/>
          <p:nvPr/>
        </p:nvSpPr>
        <p:spPr>
          <a:xfrm>
            <a:off x="640080" y="1417320"/>
            <a:ext cx="6949440" cy="548640"/>
          </a:xfrm>
          <a:prstGeom prst="rect">
            <a:avLst/>
          </a:prstGeom>
          <a:noFill/>
          <a:ln/>
        </p:spPr>
        <p:txBody>
          <a:bodyPr wrap="square" lIns="0" tIns="0" rIns="0" bIns="0" rtlCol="0" anchor="ctr"/>
          <a:lstStyle/>
          <a:p>
            <a:pPr indent="0" marL="0">
              <a:buNone/>
            </a:pPr>
            <a:r>
              <a:rPr lang="en-US" sz="1400" dirty="0">
                <a:solidFill>
                  <a:srgbClr val="7A6E60"/>
                </a:solidFill>
                <a:latin typeface="Calibri" pitchFamily="34" charset="0"/>
                <a:ea typeface="Calibri" pitchFamily="34" charset="-122"/>
                <a:cs typeface="Calibri" pitchFamily="34" charset="-120"/>
              </a:rPr>
              <a:t>What a visitor sees at your entrance. They check themselves in, in seconds — you touch nothing.</a:t>
            </a:r>
            <a:endParaRPr lang="en-US" sz="1400" dirty="0"/>
          </a:p>
        </p:txBody>
      </p:sp>
      <p:sp>
        <p:nvSpPr>
          <p:cNvPr id="5" name="Shape 3"/>
          <p:cNvSpPr/>
          <p:nvPr/>
        </p:nvSpPr>
        <p:spPr>
          <a:xfrm>
            <a:off x="640080" y="2304288"/>
            <a:ext cx="237744" cy="237744"/>
          </a:xfrm>
          <a:prstGeom prst="ellipse">
            <a:avLst/>
          </a:prstGeom>
          <a:solidFill>
            <a:srgbClr val="FDF3E0"/>
          </a:solidFill>
          <a:ln w="12700">
            <a:solidFill>
              <a:srgbClr val="FDF3E0"/>
            </a:solidFill>
            <a:prstDash val="solid"/>
          </a:ln>
        </p:spPr>
      </p:sp>
      <p:sp>
        <p:nvSpPr>
          <p:cNvPr id="6" name="Shape 4"/>
          <p:cNvSpPr/>
          <p:nvPr/>
        </p:nvSpPr>
        <p:spPr>
          <a:xfrm>
            <a:off x="722376" y="2386584"/>
            <a:ext cx="73152" cy="73152"/>
          </a:xfrm>
          <a:prstGeom prst="ellipse">
            <a:avLst/>
          </a:prstGeom>
          <a:solidFill>
            <a:srgbClr val="C97B1A"/>
          </a:solidFill>
          <a:ln w="12700">
            <a:solidFill>
              <a:srgbClr val="C97B1A"/>
            </a:solidFill>
            <a:prstDash val="solid"/>
          </a:ln>
        </p:spPr>
      </p:sp>
      <p:sp>
        <p:nvSpPr>
          <p:cNvPr id="7" name="Text 5"/>
          <p:cNvSpPr/>
          <p:nvPr/>
        </p:nvSpPr>
        <p:spPr>
          <a:xfrm>
            <a:off x="1051560" y="224028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Returning members tap their name</a:t>
            </a:r>
            <a:endParaRPr lang="en-US" sz="1500" dirty="0"/>
          </a:p>
        </p:txBody>
      </p:sp>
      <p:sp>
        <p:nvSpPr>
          <p:cNvPr id="8" name="Text 6"/>
          <p:cNvSpPr/>
          <p:nvPr/>
        </p:nvSpPr>
        <p:spPr>
          <a:xfrm>
            <a:off x="1051560" y="255117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Search, tap, done — a warm welcome in about five seconds.</a:t>
            </a:r>
            <a:endParaRPr lang="en-US" sz="1250" dirty="0"/>
          </a:p>
        </p:txBody>
      </p:sp>
      <p:sp>
        <p:nvSpPr>
          <p:cNvPr id="9" name="Shape 7"/>
          <p:cNvSpPr/>
          <p:nvPr/>
        </p:nvSpPr>
        <p:spPr>
          <a:xfrm>
            <a:off x="640080" y="3355848"/>
            <a:ext cx="237744" cy="237744"/>
          </a:xfrm>
          <a:prstGeom prst="ellipse">
            <a:avLst/>
          </a:prstGeom>
          <a:solidFill>
            <a:srgbClr val="FDF3E0"/>
          </a:solidFill>
          <a:ln w="12700">
            <a:solidFill>
              <a:srgbClr val="FDF3E0"/>
            </a:solidFill>
            <a:prstDash val="solid"/>
          </a:ln>
        </p:spPr>
      </p:sp>
      <p:sp>
        <p:nvSpPr>
          <p:cNvPr id="10" name="Shape 8"/>
          <p:cNvSpPr/>
          <p:nvPr/>
        </p:nvSpPr>
        <p:spPr>
          <a:xfrm>
            <a:off x="722376" y="3438144"/>
            <a:ext cx="73152" cy="73152"/>
          </a:xfrm>
          <a:prstGeom prst="ellipse">
            <a:avLst/>
          </a:prstGeom>
          <a:solidFill>
            <a:srgbClr val="C97B1A"/>
          </a:solidFill>
          <a:ln w="12700">
            <a:solidFill>
              <a:srgbClr val="C97B1A"/>
            </a:solidFill>
            <a:prstDash val="solid"/>
          </a:ln>
        </p:spPr>
      </p:sp>
      <p:sp>
        <p:nvSpPr>
          <p:cNvPr id="11" name="Text 9"/>
          <p:cNvSpPr/>
          <p:nvPr/>
        </p:nvSpPr>
        <p:spPr>
          <a:xfrm>
            <a:off x="1051560" y="329184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First-timers fill a 30-second form</a:t>
            </a:r>
            <a:endParaRPr lang="en-US" sz="1500" dirty="0"/>
          </a:p>
        </p:txBody>
      </p:sp>
      <p:sp>
        <p:nvSpPr>
          <p:cNvPr id="12" name="Text 10"/>
          <p:cNvSpPr/>
          <p:nvPr/>
        </p:nvSpPr>
        <p:spPr>
          <a:xfrm>
            <a:off x="1051560" y="360273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Name, phone, gender — and they are saved for next time.</a:t>
            </a:r>
            <a:endParaRPr lang="en-US" sz="1250" dirty="0"/>
          </a:p>
        </p:txBody>
      </p:sp>
      <p:sp>
        <p:nvSpPr>
          <p:cNvPr id="13" name="Shape 11"/>
          <p:cNvSpPr/>
          <p:nvPr/>
        </p:nvSpPr>
        <p:spPr>
          <a:xfrm>
            <a:off x="640080" y="4407408"/>
            <a:ext cx="237744" cy="237744"/>
          </a:xfrm>
          <a:prstGeom prst="ellipse">
            <a:avLst/>
          </a:prstGeom>
          <a:solidFill>
            <a:srgbClr val="FDF3E0"/>
          </a:solidFill>
          <a:ln w="12700">
            <a:solidFill>
              <a:srgbClr val="FDF3E0"/>
            </a:solidFill>
            <a:prstDash val="solid"/>
          </a:ln>
        </p:spPr>
      </p:sp>
      <p:sp>
        <p:nvSpPr>
          <p:cNvPr id="14" name="Shape 12"/>
          <p:cNvSpPr/>
          <p:nvPr/>
        </p:nvSpPr>
        <p:spPr>
          <a:xfrm>
            <a:off x="722376" y="4489704"/>
            <a:ext cx="73152" cy="73152"/>
          </a:xfrm>
          <a:prstGeom prst="ellipse">
            <a:avLst/>
          </a:prstGeom>
          <a:solidFill>
            <a:srgbClr val="C97B1A"/>
          </a:solidFill>
          <a:ln w="12700">
            <a:solidFill>
              <a:srgbClr val="C97B1A"/>
            </a:solidFill>
            <a:prstDash val="solid"/>
          </a:ln>
        </p:spPr>
      </p:sp>
      <p:sp>
        <p:nvSpPr>
          <p:cNvPr id="15" name="Text 13"/>
          <p:cNvSpPr/>
          <p:nvPr/>
        </p:nvSpPr>
        <p:spPr>
          <a:xfrm>
            <a:off x="1051560" y="434340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Genuinely works offline</a:t>
            </a:r>
            <a:endParaRPr lang="en-US" sz="1500" dirty="0"/>
          </a:p>
        </p:txBody>
      </p:sp>
      <p:sp>
        <p:nvSpPr>
          <p:cNvPr id="16" name="Text 14"/>
          <p:cNvSpPr/>
          <p:nvPr/>
        </p:nvSpPr>
        <p:spPr>
          <a:xfrm>
            <a:off x="1051560" y="465429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Check-ins save on the device and sync the moment the connection returns.</a:t>
            </a:r>
            <a:endParaRPr lang="en-US" sz="1250" dirty="0"/>
          </a:p>
        </p:txBody>
      </p:sp>
      <p:sp>
        <p:nvSpPr>
          <p:cNvPr id="17" name="Shape 15"/>
          <p:cNvSpPr/>
          <p:nvPr/>
        </p:nvSpPr>
        <p:spPr>
          <a:xfrm>
            <a:off x="640080" y="5458968"/>
            <a:ext cx="237744" cy="237744"/>
          </a:xfrm>
          <a:prstGeom prst="ellipse">
            <a:avLst/>
          </a:prstGeom>
          <a:solidFill>
            <a:srgbClr val="FDF3E0"/>
          </a:solidFill>
          <a:ln w="12700">
            <a:solidFill>
              <a:srgbClr val="FDF3E0"/>
            </a:solidFill>
            <a:prstDash val="solid"/>
          </a:ln>
        </p:spPr>
      </p:sp>
      <p:sp>
        <p:nvSpPr>
          <p:cNvPr id="18" name="Shape 16"/>
          <p:cNvSpPr/>
          <p:nvPr/>
        </p:nvSpPr>
        <p:spPr>
          <a:xfrm>
            <a:off x="722376" y="5541264"/>
            <a:ext cx="73152" cy="73152"/>
          </a:xfrm>
          <a:prstGeom prst="ellipse">
            <a:avLst/>
          </a:prstGeom>
          <a:solidFill>
            <a:srgbClr val="C97B1A"/>
          </a:solidFill>
          <a:ln w="12700">
            <a:solidFill>
              <a:srgbClr val="C97B1A"/>
            </a:solidFill>
            <a:prstDash val="solid"/>
          </a:ln>
        </p:spPr>
      </p:sp>
      <p:sp>
        <p:nvSpPr>
          <p:cNvPr id="19" name="Text 17"/>
          <p:cNvSpPr/>
          <p:nvPr/>
        </p:nvSpPr>
        <p:spPr>
          <a:xfrm>
            <a:off x="1051560" y="539496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Locked to check-in</a:t>
            </a:r>
            <a:endParaRPr lang="en-US" sz="1500" dirty="0"/>
          </a:p>
        </p:txBody>
      </p:sp>
      <p:sp>
        <p:nvSpPr>
          <p:cNvPr id="20" name="Text 18"/>
          <p:cNvSpPr/>
          <p:nvPr/>
        </p:nvSpPr>
        <p:spPr>
          <a:xfrm>
            <a:off x="1051560" y="570585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A kiosk code you choose stops anyone wandering out of the screen.</a:t>
            </a:r>
            <a:endParaRPr lang="en-US" sz="1250" dirty="0"/>
          </a:p>
        </p:txBody>
      </p:sp>
      <p:sp>
        <p:nvSpPr>
          <p:cNvPr id="21" name="Shape 19"/>
          <p:cNvSpPr/>
          <p:nvPr/>
        </p:nvSpPr>
        <p:spPr>
          <a:xfrm>
            <a:off x="6858000" y="1965960"/>
            <a:ext cx="4663440" cy="3931920"/>
          </a:xfrm>
          <a:prstGeom prst="roundRect">
            <a:avLst>
              <a:gd name="adj" fmla="val 2791"/>
            </a:avLst>
          </a:prstGeom>
          <a:solidFill>
            <a:srgbClr val="16243A"/>
          </a:solidFill>
          <a:ln w="12700">
            <a:solidFill>
              <a:srgbClr val="16243A"/>
            </a:solidFill>
            <a:prstDash val="solid"/>
          </a:ln>
          <a:effectLst>
            <a:outerShdw sx="100000" sy="100000" kx="0" ky="0" algn="bl" rotWithShape="0" blurRad="279400" dist="76200" dir="5400000">
              <a:srgbClr val="000000">
                <a:alpha val="22000"/>
              </a:srgbClr>
            </a:outerShdw>
          </a:effectLst>
        </p:spPr>
      </p:sp>
      <p:sp>
        <p:nvSpPr>
          <p:cNvPr id="22" name="Shape 20"/>
          <p:cNvSpPr/>
          <p:nvPr/>
        </p:nvSpPr>
        <p:spPr>
          <a:xfrm>
            <a:off x="8823960" y="2377440"/>
            <a:ext cx="731520" cy="731520"/>
          </a:xfrm>
          <a:prstGeom prst="roundRect">
            <a:avLst>
              <a:gd name="adj" fmla="val 17500"/>
            </a:avLst>
          </a:prstGeom>
          <a:solidFill>
            <a:srgbClr val="C97B1A"/>
          </a:solidFill>
          <a:ln w="12700">
            <a:solidFill>
              <a:srgbClr val="C97B1A"/>
            </a:solidFill>
            <a:prstDash val="solid"/>
          </a:ln>
        </p:spPr>
      </p:sp>
      <p:sp>
        <p:nvSpPr>
          <p:cNvPr id="23" name="Text 21"/>
          <p:cNvSpPr/>
          <p:nvPr/>
        </p:nvSpPr>
        <p:spPr>
          <a:xfrm>
            <a:off x="8823960" y="2423160"/>
            <a:ext cx="7315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24" name="Text 22"/>
          <p:cNvSpPr/>
          <p:nvPr/>
        </p:nvSpPr>
        <p:spPr>
          <a:xfrm>
            <a:off x="7223760" y="3246120"/>
            <a:ext cx="393192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Grace Chapel</a:t>
            </a:r>
            <a:endParaRPr lang="en-US" sz="2200" dirty="0"/>
          </a:p>
        </p:txBody>
      </p:sp>
      <p:sp>
        <p:nvSpPr>
          <p:cNvPr id="25" name="Text 23"/>
          <p:cNvSpPr/>
          <p:nvPr/>
        </p:nvSpPr>
        <p:spPr>
          <a:xfrm>
            <a:off x="7223760" y="3630168"/>
            <a:ext cx="3931920" cy="274320"/>
          </a:xfrm>
          <a:prstGeom prst="rect">
            <a:avLst/>
          </a:prstGeom>
          <a:noFill/>
          <a:ln/>
        </p:spPr>
        <p:txBody>
          <a:bodyPr wrap="square" lIns="0" tIns="0" rIns="0" bIns="0" rtlCol="0" anchor="ctr"/>
          <a:lstStyle/>
          <a:p>
            <a:pPr algn="ctr" indent="0" marL="0">
              <a:buNone/>
            </a:pPr>
            <a:r>
              <a:rPr lang="en-US" sz="1200" dirty="0">
                <a:solidFill>
                  <a:srgbClr val="7E8B9E"/>
                </a:solidFill>
                <a:latin typeface="Calibri" pitchFamily="34" charset="0"/>
                <a:ea typeface="Calibri" pitchFamily="34" charset="-122"/>
                <a:cs typeface="Calibri" pitchFamily="34" charset="-120"/>
              </a:rPr>
              <a:t>We are glad you are here</a:t>
            </a:r>
            <a:endParaRPr lang="en-US" sz="1200" dirty="0"/>
          </a:p>
        </p:txBody>
      </p:sp>
      <p:sp>
        <p:nvSpPr>
          <p:cNvPr id="26" name="Shape 24"/>
          <p:cNvSpPr/>
          <p:nvPr/>
        </p:nvSpPr>
        <p:spPr>
          <a:xfrm>
            <a:off x="7223760" y="4114800"/>
            <a:ext cx="3931920" cy="713232"/>
          </a:xfrm>
          <a:prstGeom prst="roundRect">
            <a:avLst>
              <a:gd name="adj" fmla="val 10256"/>
            </a:avLst>
          </a:prstGeom>
          <a:solidFill>
            <a:srgbClr val="2E7D4E"/>
          </a:solidFill>
          <a:ln w="12700">
            <a:solidFill>
              <a:srgbClr val="2E7D4E"/>
            </a:solidFill>
            <a:prstDash val="solid"/>
          </a:ln>
        </p:spPr>
      </p:sp>
      <p:sp>
        <p:nvSpPr>
          <p:cNvPr id="27" name="Text 25"/>
          <p:cNvSpPr/>
          <p:nvPr/>
        </p:nvSpPr>
        <p:spPr>
          <a:xfrm>
            <a:off x="7452360" y="4224528"/>
            <a:ext cx="347472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 HAVE BEEN HERE BEFORE</a:t>
            </a:r>
            <a:endParaRPr lang="en-US" sz="1150" dirty="0"/>
          </a:p>
        </p:txBody>
      </p:sp>
      <p:sp>
        <p:nvSpPr>
          <p:cNvPr id="28" name="Text 26"/>
          <p:cNvSpPr/>
          <p:nvPr/>
        </p:nvSpPr>
        <p:spPr>
          <a:xfrm>
            <a:off x="7452360" y="4480560"/>
            <a:ext cx="3474720" cy="237744"/>
          </a:xfrm>
          <a:prstGeom prst="rect">
            <a:avLst/>
          </a:prstGeom>
          <a:noFill/>
          <a:ln/>
        </p:spPr>
        <p:txBody>
          <a:bodyPr wrap="square" lIns="0" tIns="0" rIns="0" bIns="0" rtlCol="0" anchor="ctr"/>
          <a:lstStyle/>
          <a:p>
            <a:pPr indent="0" marL="0">
              <a:buNone/>
            </a:pPr>
            <a:r>
              <a:rPr lang="en-US" sz="1000" dirty="0">
                <a:solidFill>
                  <a:srgbClr val="AAB4C3"/>
                </a:solidFill>
                <a:latin typeface="Calibri" pitchFamily="34" charset="0"/>
                <a:ea typeface="Calibri" pitchFamily="34" charset="-122"/>
                <a:cs typeface="Calibri" pitchFamily="34" charset="-120"/>
              </a:rPr>
              <a:t>Search your name — 5 seconds</a:t>
            </a:r>
            <a:endParaRPr lang="en-US" sz="1000" dirty="0"/>
          </a:p>
        </p:txBody>
      </p:sp>
      <p:sp>
        <p:nvSpPr>
          <p:cNvPr id="29" name="Shape 27"/>
          <p:cNvSpPr/>
          <p:nvPr/>
        </p:nvSpPr>
        <p:spPr>
          <a:xfrm>
            <a:off x="7223760" y="4983480"/>
            <a:ext cx="3931920" cy="713232"/>
          </a:xfrm>
          <a:prstGeom prst="roundRect">
            <a:avLst>
              <a:gd name="adj" fmla="val 10256"/>
            </a:avLst>
          </a:prstGeom>
          <a:solidFill>
            <a:srgbClr val="C97B1A"/>
          </a:solidFill>
          <a:ln w="12700">
            <a:solidFill>
              <a:srgbClr val="C97B1A"/>
            </a:solidFill>
            <a:prstDash val="solid"/>
          </a:ln>
        </p:spPr>
      </p:sp>
      <p:sp>
        <p:nvSpPr>
          <p:cNvPr id="30" name="Text 28"/>
          <p:cNvSpPr/>
          <p:nvPr/>
        </p:nvSpPr>
        <p:spPr>
          <a:xfrm>
            <a:off x="7452360" y="5093208"/>
            <a:ext cx="3474720"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THIS IS MY FIRST TIME</a:t>
            </a:r>
            <a:endParaRPr lang="en-US" sz="1150" dirty="0"/>
          </a:p>
        </p:txBody>
      </p:sp>
      <p:sp>
        <p:nvSpPr>
          <p:cNvPr id="31" name="Text 29"/>
          <p:cNvSpPr/>
          <p:nvPr/>
        </p:nvSpPr>
        <p:spPr>
          <a:xfrm>
            <a:off x="7452360" y="5349240"/>
            <a:ext cx="3474720" cy="237744"/>
          </a:xfrm>
          <a:prstGeom prst="rect">
            <a:avLst/>
          </a:prstGeom>
          <a:noFill/>
          <a:ln/>
        </p:spPr>
        <p:txBody>
          <a:bodyPr wrap="square" lIns="0" tIns="0" rIns="0" bIns="0" rtlCol="0" anchor="ctr"/>
          <a:lstStyle/>
          <a:p>
            <a:pPr indent="0" marL="0">
              <a:buNone/>
            </a:pPr>
            <a:r>
              <a:rPr lang="en-US" sz="1000" dirty="0">
                <a:solidFill>
                  <a:srgbClr val="AAB4C3"/>
                </a:solidFill>
                <a:latin typeface="Calibri" pitchFamily="34" charset="0"/>
                <a:ea typeface="Calibri" pitchFamily="34" charset="-122"/>
                <a:cs typeface="Calibri" pitchFamily="34" charset="-120"/>
              </a:rPr>
              <a:t>Quick 30-second welcome form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E"/>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300" b="1" dirty="0">
                <a:solidFill>
                  <a:srgbClr val="C97B1A"/>
                </a:solidFill>
                <a:latin typeface="Calibri" pitchFamily="34" charset="0"/>
                <a:ea typeface="Calibri" pitchFamily="34" charset="-122"/>
                <a:cs typeface="Calibri" pitchFamily="34" charset="-120"/>
              </a:rPr>
              <a:t>2</a:t>
            </a:r>
            <a:pPr indent="0" marL="0">
              <a:buNone/>
            </a:pPr>
            <a:r>
              <a:rPr lang="en-US" sz="1100" b="1" spc="200" kern="0" dirty="0">
                <a:solidFill>
                  <a:srgbClr val="A89D8E"/>
                </a:solidFill>
                <a:latin typeface="Calibri" pitchFamily="34" charset="0"/>
                <a:ea typeface="Calibri" pitchFamily="34" charset="-122"/>
                <a:cs typeface="Calibri" pitchFamily="34" charset="-120"/>
              </a:rPr>
              <a:t>   HOME</a:t>
            </a:r>
            <a:endParaRPr lang="en-US" sz="1300" dirty="0"/>
          </a:p>
        </p:txBody>
      </p:sp>
      <p:sp>
        <p:nvSpPr>
          <p:cNvPr id="3" name="Text 1"/>
          <p:cNvSpPr/>
          <p:nvPr/>
        </p:nvSpPr>
        <p:spPr>
          <a:xfrm>
            <a:off x="640080" y="777240"/>
            <a:ext cx="7680960" cy="59436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The Dashboard</a:t>
            </a:r>
            <a:endParaRPr lang="en-US" sz="3400" dirty="0"/>
          </a:p>
        </p:txBody>
      </p:sp>
      <p:sp>
        <p:nvSpPr>
          <p:cNvPr id="4" name="Text 2"/>
          <p:cNvSpPr/>
          <p:nvPr/>
        </p:nvSpPr>
        <p:spPr>
          <a:xfrm>
            <a:off x="640080" y="1417320"/>
            <a:ext cx="6949440" cy="548640"/>
          </a:xfrm>
          <a:prstGeom prst="rect">
            <a:avLst/>
          </a:prstGeom>
          <a:noFill/>
          <a:ln/>
        </p:spPr>
        <p:txBody>
          <a:bodyPr wrap="square" lIns="0" tIns="0" rIns="0" bIns="0" rtlCol="0" anchor="ctr"/>
          <a:lstStyle/>
          <a:p>
            <a:pPr indent="0" marL="0">
              <a:buNone/>
            </a:pPr>
            <a:r>
              <a:rPr lang="en-US" sz="1400" dirty="0">
                <a:solidFill>
                  <a:srgbClr val="7A6E60"/>
                </a:solidFill>
                <a:latin typeface="Calibri" pitchFamily="34" charset="0"/>
                <a:ea typeface="Calibri" pitchFamily="34" charset="-122"/>
                <a:cs typeface="Calibri" pitchFamily="34" charset="-120"/>
              </a:rPr>
              <a:t>Your Sunday-morning home screen. Open it and watch the service happen in real time.</a:t>
            </a:r>
            <a:endParaRPr lang="en-US" sz="1400" dirty="0"/>
          </a:p>
        </p:txBody>
      </p:sp>
      <p:sp>
        <p:nvSpPr>
          <p:cNvPr id="5" name="Shape 3"/>
          <p:cNvSpPr/>
          <p:nvPr/>
        </p:nvSpPr>
        <p:spPr>
          <a:xfrm>
            <a:off x="640080" y="2304288"/>
            <a:ext cx="237744" cy="237744"/>
          </a:xfrm>
          <a:prstGeom prst="ellipse">
            <a:avLst/>
          </a:prstGeom>
          <a:solidFill>
            <a:srgbClr val="FDF3E0"/>
          </a:solidFill>
          <a:ln w="12700">
            <a:solidFill>
              <a:srgbClr val="FDF3E0"/>
            </a:solidFill>
            <a:prstDash val="solid"/>
          </a:ln>
        </p:spPr>
      </p:sp>
      <p:sp>
        <p:nvSpPr>
          <p:cNvPr id="6" name="Shape 4"/>
          <p:cNvSpPr/>
          <p:nvPr/>
        </p:nvSpPr>
        <p:spPr>
          <a:xfrm>
            <a:off x="722376" y="2386584"/>
            <a:ext cx="73152" cy="73152"/>
          </a:xfrm>
          <a:prstGeom prst="ellipse">
            <a:avLst/>
          </a:prstGeom>
          <a:solidFill>
            <a:srgbClr val="C97B1A"/>
          </a:solidFill>
          <a:ln w="12700">
            <a:solidFill>
              <a:srgbClr val="C97B1A"/>
            </a:solidFill>
            <a:prstDash val="solid"/>
          </a:ln>
        </p:spPr>
      </p:sp>
      <p:sp>
        <p:nvSpPr>
          <p:cNvPr id="7" name="Text 5"/>
          <p:cNvSpPr/>
          <p:nvPr/>
        </p:nvSpPr>
        <p:spPr>
          <a:xfrm>
            <a:off x="1051560" y="224028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Today’s check-ins, live</a:t>
            </a:r>
            <a:endParaRPr lang="en-US" sz="1500" dirty="0"/>
          </a:p>
        </p:txBody>
      </p:sp>
      <p:sp>
        <p:nvSpPr>
          <p:cNvPr id="8" name="Text 6"/>
          <p:cNvSpPr/>
          <p:nvPr/>
        </p:nvSpPr>
        <p:spPr>
          <a:xfrm>
            <a:off x="1051560" y="255117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Names appear as people arrive, with first-timers flagged.</a:t>
            </a:r>
            <a:endParaRPr lang="en-US" sz="1250" dirty="0"/>
          </a:p>
        </p:txBody>
      </p:sp>
      <p:sp>
        <p:nvSpPr>
          <p:cNvPr id="9" name="Shape 7"/>
          <p:cNvSpPr/>
          <p:nvPr/>
        </p:nvSpPr>
        <p:spPr>
          <a:xfrm>
            <a:off x="640080" y="3355848"/>
            <a:ext cx="237744" cy="237744"/>
          </a:xfrm>
          <a:prstGeom prst="ellipse">
            <a:avLst/>
          </a:prstGeom>
          <a:solidFill>
            <a:srgbClr val="FDF3E0"/>
          </a:solidFill>
          <a:ln w="12700">
            <a:solidFill>
              <a:srgbClr val="FDF3E0"/>
            </a:solidFill>
            <a:prstDash val="solid"/>
          </a:ln>
        </p:spPr>
      </p:sp>
      <p:sp>
        <p:nvSpPr>
          <p:cNvPr id="10" name="Shape 8"/>
          <p:cNvSpPr/>
          <p:nvPr/>
        </p:nvSpPr>
        <p:spPr>
          <a:xfrm>
            <a:off x="722376" y="3438144"/>
            <a:ext cx="73152" cy="73152"/>
          </a:xfrm>
          <a:prstGeom prst="ellipse">
            <a:avLst/>
          </a:prstGeom>
          <a:solidFill>
            <a:srgbClr val="C97B1A"/>
          </a:solidFill>
          <a:ln w="12700">
            <a:solidFill>
              <a:srgbClr val="C97B1A"/>
            </a:solidFill>
            <a:prstDash val="solid"/>
          </a:ln>
        </p:spPr>
      </p:sp>
      <p:sp>
        <p:nvSpPr>
          <p:cNvPr id="11" name="Text 9"/>
          <p:cNvSpPr/>
          <p:nvPr/>
        </p:nvSpPr>
        <p:spPr>
          <a:xfrm>
            <a:off x="1051560" y="329184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Open or close check-in</a:t>
            </a:r>
            <a:endParaRPr lang="en-US" sz="1500" dirty="0"/>
          </a:p>
        </p:txBody>
      </p:sp>
      <p:sp>
        <p:nvSpPr>
          <p:cNvPr id="12" name="Text 10"/>
          <p:cNvSpPr/>
          <p:nvPr/>
        </p:nvSpPr>
        <p:spPr>
          <a:xfrm>
            <a:off x="1051560" y="360273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One button controls whether the kiosk is accepting people.</a:t>
            </a:r>
            <a:endParaRPr lang="en-US" sz="1250" dirty="0"/>
          </a:p>
        </p:txBody>
      </p:sp>
      <p:sp>
        <p:nvSpPr>
          <p:cNvPr id="13" name="Shape 11"/>
          <p:cNvSpPr/>
          <p:nvPr/>
        </p:nvSpPr>
        <p:spPr>
          <a:xfrm>
            <a:off x="640080" y="4407408"/>
            <a:ext cx="237744" cy="237744"/>
          </a:xfrm>
          <a:prstGeom prst="ellipse">
            <a:avLst/>
          </a:prstGeom>
          <a:solidFill>
            <a:srgbClr val="FDF3E0"/>
          </a:solidFill>
          <a:ln w="12700">
            <a:solidFill>
              <a:srgbClr val="FDF3E0"/>
            </a:solidFill>
            <a:prstDash val="solid"/>
          </a:ln>
        </p:spPr>
      </p:sp>
      <p:sp>
        <p:nvSpPr>
          <p:cNvPr id="14" name="Shape 12"/>
          <p:cNvSpPr/>
          <p:nvPr/>
        </p:nvSpPr>
        <p:spPr>
          <a:xfrm>
            <a:off x="722376" y="4489704"/>
            <a:ext cx="73152" cy="73152"/>
          </a:xfrm>
          <a:prstGeom prst="ellipse">
            <a:avLst/>
          </a:prstGeom>
          <a:solidFill>
            <a:srgbClr val="C97B1A"/>
          </a:solidFill>
          <a:ln w="12700">
            <a:solidFill>
              <a:srgbClr val="C97B1A"/>
            </a:solidFill>
            <a:prstDash val="solid"/>
          </a:ln>
        </p:spPr>
      </p:sp>
      <p:sp>
        <p:nvSpPr>
          <p:cNvPr id="15" name="Text 13"/>
          <p:cNvSpPr/>
          <p:nvPr/>
        </p:nvSpPr>
        <p:spPr>
          <a:xfrm>
            <a:off x="1051560" y="434340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“Things to know” nudges</a:t>
            </a:r>
            <a:endParaRPr lang="en-US" sz="1500" dirty="0"/>
          </a:p>
        </p:txBody>
      </p:sp>
      <p:sp>
        <p:nvSpPr>
          <p:cNvPr id="16" name="Text 14"/>
          <p:cNvSpPr/>
          <p:nvPr/>
        </p:nvSpPr>
        <p:spPr>
          <a:xfrm>
            <a:off x="1051560" y="465429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Missing birthdays or email addresses surface so you can fix them.</a:t>
            </a:r>
            <a:endParaRPr lang="en-US" sz="1250" dirty="0"/>
          </a:p>
        </p:txBody>
      </p:sp>
      <p:sp>
        <p:nvSpPr>
          <p:cNvPr id="17" name="Shape 15"/>
          <p:cNvSpPr/>
          <p:nvPr/>
        </p:nvSpPr>
        <p:spPr>
          <a:xfrm>
            <a:off x="6858000" y="1965960"/>
            <a:ext cx="4663440" cy="3931920"/>
          </a:xfrm>
          <a:prstGeom prst="roundRect">
            <a:avLst>
              <a:gd name="adj" fmla="val 2791"/>
            </a:avLst>
          </a:prstGeom>
          <a:solidFill>
            <a:srgbClr val="FFFFFF"/>
          </a:solidFill>
          <a:ln w="12700">
            <a:solidFill>
              <a:srgbClr val="FFFFFF"/>
            </a:solidFill>
            <a:prstDash val="solid"/>
          </a:ln>
          <a:effectLst>
            <a:outerShdw sx="100000" sy="100000" kx="0" ky="0" algn="bl" rotWithShape="0" blurRad="279400" dist="76200" dir="5400000">
              <a:srgbClr val="000000">
                <a:alpha val="22000"/>
              </a:srgbClr>
            </a:outerShdw>
          </a:effectLst>
        </p:spPr>
      </p:sp>
      <p:sp>
        <p:nvSpPr>
          <p:cNvPr id="18" name="Shape 16"/>
          <p:cNvSpPr/>
          <p:nvPr/>
        </p:nvSpPr>
        <p:spPr>
          <a:xfrm>
            <a:off x="6858000" y="1965960"/>
            <a:ext cx="4663440" cy="3931920"/>
          </a:xfrm>
          <a:prstGeom prst="roundRect">
            <a:avLst>
              <a:gd name="adj" fmla="val 2791"/>
            </a:avLst>
          </a:prstGeom>
          <a:solidFill>
            <a:srgbClr val="FFFFFF"/>
          </a:solidFill>
          <a:ln w="12700">
            <a:solidFill>
              <a:srgbClr val="E4DFD5"/>
            </a:solidFill>
            <a:prstDash val="solid"/>
          </a:ln>
        </p:spPr>
      </p:sp>
      <p:sp>
        <p:nvSpPr>
          <p:cNvPr id="19" name="Text 17"/>
          <p:cNvSpPr/>
          <p:nvPr/>
        </p:nvSpPr>
        <p:spPr>
          <a:xfrm>
            <a:off x="7269480" y="2331720"/>
            <a:ext cx="2743200" cy="274320"/>
          </a:xfrm>
          <a:prstGeom prst="rect">
            <a:avLst/>
          </a:prstGeom>
          <a:noFill/>
          <a:ln/>
        </p:spPr>
        <p:txBody>
          <a:bodyPr wrap="square" lIns="0" tIns="0" rIns="0" bIns="0" rtlCol="0" anchor="ctr"/>
          <a:lstStyle/>
          <a:p>
            <a:pPr indent="0" marL="0">
              <a:buNone/>
            </a:pPr>
            <a:r>
              <a:rPr lang="en-US" sz="1050" b="1" spc="200" kern="0" dirty="0">
                <a:solidFill>
                  <a:srgbClr val="A89D8E"/>
                </a:solidFill>
                <a:latin typeface="Calibri" pitchFamily="34" charset="0"/>
                <a:ea typeface="Calibri" pitchFamily="34" charset="-122"/>
                <a:cs typeface="Calibri" pitchFamily="34" charset="-120"/>
              </a:rPr>
              <a:t>TODAY</a:t>
            </a:r>
            <a:endParaRPr lang="en-US" sz="1050" dirty="0"/>
          </a:p>
        </p:txBody>
      </p:sp>
      <p:sp>
        <p:nvSpPr>
          <p:cNvPr id="20" name="Text 18"/>
          <p:cNvSpPr/>
          <p:nvPr/>
        </p:nvSpPr>
        <p:spPr>
          <a:xfrm>
            <a:off x="7269480" y="2651760"/>
            <a:ext cx="1737360" cy="548640"/>
          </a:xfrm>
          <a:prstGeom prst="rect">
            <a:avLst/>
          </a:prstGeom>
          <a:noFill/>
          <a:ln/>
        </p:spPr>
        <p:txBody>
          <a:bodyPr wrap="square" lIns="0" tIns="0" rIns="0" bIns="0" rtlCol="0" anchor="ctr"/>
          <a:lstStyle/>
          <a:p>
            <a:pPr indent="0" marL="0">
              <a:buNone/>
            </a:pPr>
            <a:r>
              <a:rPr lang="en-US" sz="3800" b="1" dirty="0">
                <a:solidFill>
                  <a:srgbClr val="16243A"/>
                </a:solidFill>
                <a:latin typeface="Cambria" pitchFamily="34" charset="0"/>
                <a:ea typeface="Cambria" pitchFamily="34" charset="-122"/>
                <a:cs typeface="Cambria" pitchFamily="34" charset="-120"/>
              </a:rPr>
              <a:t>42</a:t>
            </a:r>
            <a:endParaRPr lang="en-US" sz="3800" dirty="0"/>
          </a:p>
        </p:txBody>
      </p:sp>
      <p:sp>
        <p:nvSpPr>
          <p:cNvPr id="21" name="Text 19"/>
          <p:cNvSpPr/>
          <p:nvPr/>
        </p:nvSpPr>
        <p:spPr>
          <a:xfrm>
            <a:off x="7269480" y="3227832"/>
            <a:ext cx="1737360" cy="274320"/>
          </a:xfrm>
          <a:prstGeom prst="rect">
            <a:avLst/>
          </a:prstGeom>
          <a:noFill/>
          <a:ln/>
        </p:spPr>
        <p:txBody>
          <a:bodyPr wrap="square" lIns="0" tIns="0" rIns="0" bIns="0" rtlCol="0" anchor="ctr"/>
          <a:lstStyle/>
          <a:p>
            <a:pPr indent="0" marL="0">
              <a:buNone/>
            </a:pPr>
            <a:r>
              <a:rPr lang="en-US" sz="1150" dirty="0">
                <a:solidFill>
                  <a:srgbClr val="7A6E60"/>
                </a:solidFill>
                <a:latin typeface="Calibri" pitchFamily="34" charset="0"/>
                <a:ea typeface="Calibri" pitchFamily="34" charset="-122"/>
                <a:cs typeface="Calibri" pitchFamily="34" charset="-120"/>
              </a:rPr>
              <a:t>Checked in</a:t>
            </a:r>
            <a:endParaRPr lang="en-US" sz="1150" dirty="0"/>
          </a:p>
        </p:txBody>
      </p:sp>
      <p:sp>
        <p:nvSpPr>
          <p:cNvPr id="22" name="Text 20"/>
          <p:cNvSpPr/>
          <p:nvPr/>
        </p:nvSpPr>
        <p:spPr>
          <a:xfrm>
            <a:off x="9189720" y="2651760"/>
            <a:ext cx="1737360" cy="548640"/>
          </a:xfrm>
          <a:prstGeom prst="rect">
            <a:avLst/>
          </a:prstGeom>
          <a:noFill/>
          <a:ln/>
        </p:spPr>
        <p:txBody>
          <a:bodyPr wrap="square" lIns="0" tIns="0" rIns="0" bIns="0" rtlCol="0" anchor="ctr"/>
          <a:lstStyle/>
          <a:p>
            <a:pPr indent="0" marL="0">
              <a:buNone/>
            </a:pPr>
            <a:r>
              <a:rPr lang="en-US" sz="3800" b="1" dirty="0">
                <a:solidFill>
                  <a:srgbClr val="C97B1A"/>
                </a:solidFill>
                <a:latin typeface="Cambria" pitchFamily="34" charset="0"/>
                <a:ea typeface="Cambria" pitchFamily="34" charset="-122"/>
                <a:cs typeface="Cambria" pitchFamily="34" charset="-120"/>
              </a:rPr>
              <a:t>5</a:t>
            </a:r>
            <a:endParaRPr lang="en-US" sz="3800" dirty="0"/>
          </a:p>
        </p:txBody>
      </p:sp>
      <p:sp>
        <p:nvSpPr>
          <p:cNvPr id="23" name="Text 21"/>
          <p:cNvSpPr/>
          <p:nvPr/>
        </p:nvSpPr>
        <p:spPr>
          <a:xfrm>
            <a:off x="9189720" y="3227832"/>
            <a:ext cx="1737360" cy="274320"/>
          </a:xfrm>
          <a:prstGeom prst="rect">
            <a:avLst/>
          </a:prstGeom>
          <a:noFill/>
          <a:ln/>
        </p:spPr>
        <p:txBody>
          <a:bodyPr wrap="square" lIns="0" tIns="0" rIns="0" bIns="0" rtlCol="0" anchor="ctr"/>
          <a:lstStyle/>
          <a:p>
            <a:pPr indent="0" marL="0">
              <a:buNone/>
            </a:pPr>
            <a:r>
              <a:rPr lang="en-US" sz="1150" dirty="0">
                <a:solidFill>
                  <a:srgbClr val="7A6E60"/>
                </a:solidFill>
                <a:latin typeface="Calibri" pitchFamily="34" charset="0"/>
                <a:ea typeface="Calibri" pitchFamily="34" charset="-122"/>
                <a:cs typeface="Calibri" pitchFamily="34" charset="-120"/>
              </a:rPr>
              <a:t>First-timers</a:t>
            </a:r>
            <a:endParaRPr lang="en-US" sz="1150" dirty="0"/>
          </a:p>
        </p:txBody>
      </p:sp>
      <p:sp>
        <p:nvSpPr>
          <p:cNvPr id="24" name="Shape 22"/>
          <p:cNvSpPr/>
          <p:nvPr/>
        </p:nvSpPr>
        <p:spPr>
          <a:xfrm>
            <a:off x="7269480" y="3776472"/>
            <a:ext cx="310896" cy="310896"/>
          </a:xfrm>
          <a:prstGeom prst="ellipse">
            <a:avLst/>
          </a:prstGeom>
          <a:solidFill>
            <a:srgbClr val="FDF3E0"/>
          </a:solidFill>
          <a:ln w="12700">
            <a:solidFill>
              <a:srgbClr val="FDF3E0"/>
            </a:solidFill>
            <a:prstDash val="solid"/>
          </a:ln>
        </p:spPr>
      </p:sp>
      <p:sp>
        <p:nvSpPr>
          <p:cNvPr id="25" name="Text 23"/>
          <p:cNvSpPr/>
          <p:nvPr/>
        </p:nvSpPr>
        <p:spPr>
          <a:xfrm>
            <a:off x="7269480" y="3803904"/>
            <a:ext cx="310896" cy="256032"/>
          </a:xfrm>
          <a:prstGeom prst="rect">
            <a:avLst/>
          </a:prstGeom>
          <a:noFill/>
          <a:ln/>
        </p:spPr>
        <p:txBody>
          <a:bodyPr wrap="square" lIns="0" tIns="0" rIns="0" bIns="0" rtlCol="0" anchor="ctr"/>
          <a:lstStyle/>
          <a:p>
            <a:pPr algn="ctr" indent="0" marL="0">
              <a:buNone/>
            </a:pPr>
            <a:r>
              <a:rPr lang="en-US" sz="1200" b="1" dirty="0">
                <a:solidFill>
                  <a:srgbClr val="C97B1A"/>
                </a:solidFill>
                <a:latin typeface="Calibri" pitchFamily="34" charset="0"/>
                <a:ea typeface="Calibri" pitchFamily="34" charset="-122"/>
                <a:cs typeface="Calibri" pitchFamily="34" charset="-120"/>
              </a:rPr>
              <a:t>A</a:t>
            </a:r>
            <a:endParaRPr lang="en-US" sz="1200" dirty="0"/>
          </a:p>
        </p:txBody>
      </p:sp>
      <p:sp>
        <p:nvSpPr>
          <p:cNvPr id="26" name="Text 24"/>
          <p:cNvSpPr/>
          <p:nvPr/>
        </p:nvSpPr>
        <p:spPr>
          <a:xfrm>
            <a:off x="7699248" y="3794760"/>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Abena Sarpong</a:t>
            </a:r>
            <a:endParaRPr lang="en-US" sz="1300" dirty="0"/>
          </a:p>
        </p:txBody>
      </p:sp>
      <p:sp>
        <p:nvSpPr>
          <p:cNvPr id="27" name="Text 25"/>
          <p:cNvSpPr/>
          <p:nvPr/>
        </p:nvSpPr>
        <p:spPr>
          <a:xfrm>
            <a:off x="10058400" y="3794760"/>
            <a:ext cx="1097280" cy="274320"/>
          </a:xfrm>
          <a:prstGeom prst="rect">
            <a:avLst/>
          </a:prstGeom>
          <a:noFill/>
          <a:ln/>
        </p:spPr>
        <p:txBody>
          <a:bodyPr wrap="square" lIns="0" tIns="0" rIns="0" bIns="0" rtlCol="0" anchor="ctr"/>
          <a:lstStyle/>
          <a:p>
            <a:pPr algn="r" indent="0" marL="0">
              <a:buNone/>
            </a:pPr>
            <a:r>
              <a:rPr lang="en-US" sz="1150" dirty="0">
                <a:solidFill>
                  <a:srgbClr val="A89D8E"/>
                </a:solidFill>
                <a:latin typeface="Calibri" pitchFamily="34" charset="0"/>
                <a:ea typeface="Calibri" pitchFamily="34" charset="-122"/>
                <a:cs typeface="Calibri" pitchFamily="34" charset="-120"/>
              </a:rPr>
              <a:t>9:02 AM</a:t>
            </a:r>
            <a:endParaRPr lang="en-US" sz="1150" dirty="0"/>
          </a:p>
        </p:txBody>
      </p:sp>
      <p:sp>
        <p:nvSpPr>
          <p:cNvPr id="28" name="Shape 26"/>
          <p:cNvSpPr/>
          <p:nvPr/>
        </p:nvSpPr>
        <p:spPr>
          <a:xfrm>
            <a:off x="7269480" y="4251960"/>
            <a:ext cx="310896" cy="310896"/>
          </a:xfrm>
          <a:prstGeom prst="ellipse">
            <a:avLst/>
          </a:prstGeom>
          <a:solidFill>
            <a:srgbClr val="FDF3E0"/>
          </a:solidFill>
          <a:ln w="12700">
            <a:solidFill>
              <a:srgbClr val="FDF3E0"/>
            </a:solidFill>
            <a:prstDash val="solid"/>
          </a:ln>
        </p:spPr>
      </p:sp>
      <p:sp>
        <p:nvSpPr>
          <p:cNvPr id="29" name="Text 27"/>
          <p:cNvSpPr/>
          <p:nvPr/>
        </p:nvSpPr>
        <p:spPr>
          <a:xfrm>
            <a:off x="7269480" y="4279392"/>
            <a:ext cx="310896" cy="256032"/>
          </a:xfrm>
          <a:prstGeom prst="rect">
            <a:avLst/>
          </a:prstGeom>
          <a:noFill/>
          <a:ln/>
        </p:spPr>
        <p:txBody>
          <a:bodyPr wrap="square" lIns="0" tIns="0" rIns="0" bIns="0" rtlCol="0" anchor="ctr"/>
          <a:lstStyle/>
          <a:p>
            <a:pPr algn="ctr" indent="0" marL="0">
              <a:buNone/>
            </a:pPr>
            <a:r>
              <a:rPr lang="en-US" sz="1200" b="1" dirty="0">
                <a:solidFill>
                  <a:srgbClr val="C97B1A"/>
                </a:solidFill>
                <a:latin typeface="Calibri" pitchFamily="34" charset="0"/>
                <a:ea typeface="Calibri" pitchFamily="34" charset="-122"/>
                <a:cs typeface="Calibri" pitchFamily="34" charset="-120"/>
              </a:rPr>
              <a:t>K</a:t>
            </a:r>
            <a:endParaRPr lang="en-US" sz="1200" dirty="0"/>
          </a:p>
        </p:txBody>
      </p:sp>
      <p:sp>
        <p:nvSpPr>
          <p:cNvPr id="30" name="Text 28"/>
          <p:cNvSpPr/>
          <p:nvPr/>
        </p:nvSpPr>
        <p:spPr>
          <a:xfrm>
            <a:off x="7699248" y="4270248"/>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Kwame Osei</a:t>
            </a:r>
            <a:endParaRPr lang="en-US" sz="1300" dirty="0"/>
          </a:p>
        </p:txBody>
      </p:sp>
      <p:sp>
        <p:nvSpPr>
          <p:cNvPr id="31" name="Text 29"/>
          <p:cNvSpPr/>
          <p:nvPr/>
        </p:nvSpPr>
        <p:spPr>
          <a:xfrm>
            <a:off x="10058400" y="4270248"/>
            <a:ext cx="1097280" cy="274320"/>
          </a:xfrm>
          <a:prstGeom prst="rect">
            <a:avLst/>
          </a:prstGeom>
          <a:noFill/>
          <a:ln/>
        </p:spPr>
        <p:txBody>
          <a:bodyPr wrap="square" lIns="0" tIns="0" rIns="0" bIns="0" rtlCol="0" anchor="ctr"/>
          <a:lstStyle/>
          <a:p>
            <a:pPr algn="r" indent="0" marL="0">
              <a:buNone/>
            </a:pPr>
            <a:r>
              <a:rPr lang="en-US" sz="1150" dirty="0">
                <a:solidFill>
                  <a:srgbClr val="A89D8E"/>
                </a:solidFill>
                <a:latin typeface="Calibri" pitchFamily="34" charset="0"/>
                <a:ea typeface="Calibri" pitchFamily="34" charset="-122"/>
                <a:cs typeface="Calibri" pitchFamily="34" charset="-120"/>
              </a:rPr>
              <a:t>9:05 AM</a:t>
            </a:r>
            <a:endParaRPr lang="en-US" sz="1150" dirty="0"/>
          </a:p>
        </p:txBody>
      </p:sp>
      <p:sp>
        <p:nvSpPr>
          <p:cNvPr id="32" name="Shape 30"/>
          <p:cNvSpPr/>
          <p:nvPr/>
        </p:nvSpPr>
        <p:spPr>
          <a:xfrm>
            <a:off x="7269480" y="4727448"/>
            <a:ext cx="310896" cy="310896"/>
          </a:xfrm>
          <a:prstGeom prst="ellipse">
            <a:avLst/>
          </a:prstGeom>
          <a:solidFill>
            <a:srgbClr val="FDF3E0"/>
          </a:solidFill>
          <a:ln w="12700">
            <a:solidFill>
              <a:srgbClr val="FDF3E0"/>
            </a:solidFill>
            <a:prstDash val="solid"/>
          </a:ln>
        </p:spPr>
      </p:sp>
      <p:sp>
        <p:nvSpPr>
          <p:cNvPr id="33" name="Text 31"/>
          <p:cNvSpPr/>
          <p:nvPr/>
        </p:nvSpPr>
        <p:spPr>
          <a:xfrm>
            <a:off x="7269480" y="4754880"/>
            <a:ext cx="310896" cy="256032"/>
          </a:xfrm>
          <a:prstGeom prst="rect">
            <a:avLst/>
          </a:prstGeom>
          <a:noFill/>
          <a:ln/>
        </p:spPr>
        <p:txBody>
          <a:bodyPr wrap="square" lIns="0" tIns="0" rIns="0" bIns="0" rtlCol="0" anchor="ctr"/>
          <a:lstStyle/>
          <a:p>
            <a:pPr algn="ctr" indent="0" marL="0">
              <a:buNone/>
            </a:pPr>
            <a:r>
              <a:rPr lang="en-US" sz="1200" b="1" dirty="0">
                <a:solidFill>
                  <a:srgbClr val="C97B1A"/>
                </a:solidFill>
                <a:latin typeface="Calibri" pitchFamily="34" charset="0"/>
                <a:ea typeface="Calibri" pitchFamily="34" charset="-122"/>
                <a:cs typeface="Calibri" pitchFamily="34" charset="-120"/>
              </a:rPr>
              <a:t>G</a:t>
            </a:r>
            <a:endParaRPr lang="en-US" sz="1200" dirty="0"/>
          </a:p>
        </p:txBody>
      </p:sp>
      <p:sp>
        <p:nvSpPr>
          <p:cNvPr id="34" name="Text 32"/>
          <p:cNvSpPr/>
          <p:nvPr/>
        </p:nvSpPr>
        <p:spPr>
          <a:xfrm>
            <a:off x="7699248" y="4745736"/>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Grace Owusu</a:t>
            </a:r>
            <a:endParaRPr lang="en-US" sz="1300" dirty="0"/>
          </a:p>
        </p:txBody>
      </p:sp>
      <p:sp>
        <p:nvSpPr>
          <p:cNvPr id="35" name="Text 33"/>
          <p:cNvSpPr/>
          <p:nvPr/>
        </p:nvSpPr>
        <p:spPr>
          <a:xfrm>
            <a:off x="10058400" y="4745736"/>
            <a:ext cx="1097280" cy="274320"/>
          </a:xfrm>
          <a:prstGeom prst="rect">
            <a:avLst/>
          </a:prstGeom>
          <a:noFill/>
          <a:ln/>
        </p:spPr>
        <p:txBody>
          <a:bodyPr wrap="square" lIns="0" tIns="0" rIns="0" bIns="0" rtlCol="0" anchor="ctr"/>
          <a:lstStyle/>
          <a:p>
            <a:pPr algn="r" indent="0" marL="0">
              <a:buNone/>
            </a:pPr>
            <a:r>
              <a:rPr lang="en-US" sz="1150" dirty="0">
                <a:solidFill>
                  <a:srgbClr val="A89D8E"/>
                </a:solidFill>
                <a:latin typeface="Calibri" pitchFamily="34" charset="0"/>
                <a:ea typeface="Calibri" pitchFamily="34" charset="-122"/>
                <a:cs typeface="Calibri" pitchFamily="34" charset="-120"/>
              </a:rPr>
              <a:t>9:07 AM</a:t>
            </a:r>
            <a:endParaRPr lang="en-US" sz="1150" dirty="0"/>
          </a:p>
        </p:txBody>
      </p:sp>
      <p:sp>
        <p:nvSpPr>
          <p:cNvPr id="36" name="Shape 34"/>
          <p:cNvSpPr/>
          <p:nvPr/>
        </p:nvSpPr>
        <p:spPr>
          <a:xfrm>
            <a:off x="7269480" y="5202936"/>
            <a:ext cx="310896" cy="310896"/>
          </a:xfrm>
          <a:prstGeom prst="ellipse">
            <a:avLst/>
          </a:prstGeom>
          <a:solidFill>
            <a:srgbClr val="FDF3E0"/>
          </a:solidFill>
          <a:ln w="12700">
            <a:solidFill>
              <a:srgbClr val="FDF3E0"/>
            </a:solidFill>
            <a:prstDash val="solid"/>
          </a:ln>
        </p:spPr>
      </p:sp>
      <p:sp>
        <p:nvSpPr>
          <p:cNvPr id="37" name="Text 35"/>
          <p:cNvSpPr/>
          <p:nvPr/>
        </p:nvSpPr>
        <p:spPr>
          <a:xfrm>
            <a:off x="7269480" y="5230368"/>
            <a:ext cx="310896" cy="256032"/>
          </a:xfrm>
          <a:prstGeom prst="rect">
            <a:avLst/>
          </a:prstGeom>
          <a:noFill/>
          <a:ln/>
        </p:spPr>
        <p:txBody>
          <a:bodyPr wrap="square" lIns="0" tIns="0" rIns="0" bIns="0" rtlCol="0" anchor="ctr"/>
          <a:lstStyle/>
          <a:p>
            <a:pPr algn="ctr" indent="0" marL="0">
              <a:buNone/>
            </a:pPr>
            <a:r>
              <a:rPr lang="en-US" sz="1200" b="1" dirty="0">
                <a:solidFill>
                  <a:srgbClr val="C97B1A"/>
                </a:solidFill>
                <a:latin typeface="Calibri" pitchFamily="34" charset="0"/>
                <a:ea typeface="Calibri" pitchFamily="34" charset="-122"/>
                <a:cs typeface="Calibri" pitchFamily="34" charset="-120"/>
              </a:rPr>
              <a:t>J</a:t>
            </a:r>
            <a:endParaRPr lang="en-US" sz="1200" dirty="0"/>
          </a:p>
        </p:txBody>
      </p:sp>
      <p:sp>
        <p:nvSpPr>
          <p:cNvPr id="38" name="Text 36"/>
          <p:cNvSpPr/>
          <p:nvPr/>
        </p:nvSpPr>
        <p:spPr>
          <a:xfrm>
            <a:off x="7699248" y="5221224"/>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Joseph Asante</a:t>
            </a:r>
            <a:endParaRPr lang="en-US" sz="1300" dirty="0"/>
          </a:p>
        </p:txBody>
      </p:sp>
      <p:sp>
        <p:nvSpPr>
          <p:cNvPr id="39" name="Text 37"/>
          <p:cNvSpPr/>
          <p:nvPr/>
        </p:nvSpPr>
        <p:spPr>
          <a:xfrm>
            <a:off x="10058400" y="5221224"/>
            <a:ext cx="1097280" cy="274320"/>
          </a:xfrm>
          <a:prstGeom prst="rect">
            <a:avLst/>
          </a:prstGeom>
          <a:noFill/>
          <a:ln/>
        </p:spPr>
        <p:txBody>
          <a:bodyPr wrap="square" lIns="0" tIns="0" rIns="0" bIns="0" rtlCol="0" anchor="ctr"/>
          <a:lstStyle/>
          <a:p>
            <a:pPr algn="r" indent="0" marL="0">
              <a:buNone/>
            </a:pPr>
            <a:r>
              <a:rPr lang="en-US" sz="1150" dirty="0">
                <a:solidFill>
                  <a:srgbClr val="A89D8E"/>
                </a:solidFill>
                <a:latin typeface="Calibri" pitchFamily="34" charset="0"/>
                <a:ea typeface="Calibri" pitchFamily="34" charset="-122"/>
                <a:cs typeface="Calibri" pitchFamily="34" charset="-120"/>
              </a:rPr>
              <a:t>9:11 AM</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300" b="1" dirty="0">
                <a:solidFill>
                  <a:srgbClr val="C97B1A"/>
                </a:solidFill>
                <a:latin typeface="Calibri" pitchFamily="34" charset="0"/>
                <a:ea typeface="Calibri" pitchFamily="34" charset="-122"/>
                <a:cs typeface="Calibri" pitchFamily="34" charset="-120"/>
              </a:rPr>
              <a:t>3</a:t>
            </a:r>
            <a:pPr indent="0" marL="0">
              <a:buNone/>
            </a:pPr>
            <a:r>
              <a:rPr lang="en-US" sz="1100" b="1" spc="200" kern="0" dirty="0">
                <a:solidFill>
                  <a:srgbClr val="A89D8E"/>
                </a:solidFill>
                <a:latin typeface="Calibri" pitchFamily="34" charset="0"/>
                <a:ea typeface="Calibri" pitchFamily="34" charset="-122"/>
                <a:cs typeface="Calibri" pitchFamily="34" charset="-120"/>
              </a:rPr>
              <a:t>   PEOPLE</a:t>
            </a:r>
            <a:endParaRPr lang="en-US" sz="1300" dirty="0"/>
          </a:p>
        </p:txBody>
      </p:sp>
      <p:sp>
        <p:nvSpPr>
          <p:cNvPr id="3" name="Text 1"/>
          <p:cNvSpPr/>
          <p:nvPr/>
        </p:nvSpPr>
        <p:spPr>
          <a:xfrm>
            <a:off x="640080" y="777240"/>
            <a:ext cx="7680960" cy="59436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Your Congregation</a:t>
            </a:r>
            <a:endParaRPr lang="en-US" sz="3400" dirty="0"/>
          </a:p>
        </p:txBody>
      </p:sp>
      <p:sp>
        <p:nvSpPr>
          <p:cNvPr id="4" name="Text 2"/>
          <p:cNvSpPr/>
          <p:nvPr/>
        </p:nvSpPr>
        <p:spPr>
          <a:xfrm>
            <a:off x="640080" y="1417320"/>
            <a:ext cx="6949440" cy="548640"/>
          </a:xfrm>
          <a:prstGeom prst="rect">
            <a:avLst/>
          </a:prstGeom>
          <a:noFill/>
          <a:ln/>
        </p:spPr>
        <p:txBody>
          <a:bodyPr wrap="square" lIns="0" tIns="0" rIns="0" bIns="0" rtlCol="0" anchor="ctr"/>
          <a:lstStyle/>
          <a:p>
            <a:pPr indent="0" marL="0">
              <a:buNone/>
            </a:pPr>
            <a:r>
              <a:rPr lang="en-US" sz="1400" dirty="0">
                <a:solidFill>
                  <a:srgbClr val="7A6E60"/>
                </a:solidFill>
                <a:latin typeface="Calibri" pitchFamily="34" charset="0"/>
                <a:ea typeface="Calibri" pitchFamily="34" charset="-122"/>
                <a:cs typeface="Calibri" pitchFamily="34" charset="-120"/>
              </a:rPr>
              <a:t>Every member, visitor and leader in one searchable place — built automatically from check-ins.</a:t>
            </a:r>
            <a:endParaRPr lang="en-US" sz="1400" dirty="0"/>
          </a:p>
        </p:txBody>
      </p:sp>
      <p:sp>
        <p:nvSpPr>
          <p:cNvPr id="5" name="Shape 3"/>
          <p:cNvSpPr/>
          <p:nvPr/>
        </p:nvSpPr>
        <p:spPr>
          <a:xfrm>
            <a:off x="640080" y="2304288"/>
            <a:ext cx="237744" cy="237744"/>
          </a:xfrm>
          <a:prstGeom prst="ellipse">
            <a:avLst/>
          </a:prstGeom>
          <a:solidFill>
            <a:srgbClr val="FDF3E0"/>
          </a:solidFill>
          <a:ln w="12700">
            <a:solidFill>
              <a:srgbClr val="FDF3E0"/>
            </a:solidFill>
            <a:prstDash val="solid"/>
          </a:ln>
        </p:spPr>
      </p:sp>
      <p:sp>
        <p:nvSpPr>
          <p:cNvPr id="6" name="Shape 4"/>
          <p:cNvSpPr/>
          <p:nvPr/>
        </p:nvSpPr>
        <p:spPr>
          <a:xfrm>
            <a:off x="722376" y="2386584"/>
            <a:ext cx="73152" cy="73152"/>
          </a:xfrm>
          <a:prstGeom prst="ellipse">
            <a:avLst/>
          </a:prstGeom>
          <a:solidFill>
            <a:srgbClr val="C97B1A"/>
          </a:solidFill>
          <a:ln w="12700">
            <a:solidFill>
              <a:srgbClr val="C97B1A"/>
            </a:solidFill>
            <a:prstDash val="solid"/>
          </a:ln>
        </p:spPr>
      </p:sp>
      <p:sp>
        <p:nvSpPr>
          <p:cNvPr id="7" name="Text 5"/>
          <p:cNvSpPr/>
          <p:nvPr/>
        </p:nvSpPr>
        <p:spPr>
          <a:xfrm>
            <a:off x="1051560" y="224028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Members, visitors, leaders</a:t>
            </a:r>
            <a:endParaRPr lang="en-US" sz="1500" dirty="0"/>
          </a:p>
        </p:txBody>
      </p:sp>
      <p:sp>
        <p:nvSpPr>
          <p:cNvPr id="8" name="Text 6"/>
          <p:cNvSpPr/>
          <p:nvPr/>
        </p:nvSpPr>
        <p:spPr>
          <a:xfrm>
            <a:off x="1051560" y="255117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Roles you can change, so you always know who is who.</a:t>
            </a:r>
            <a:endParaRPr lang="en-US" sz="1250" dirty="0"/>
          </a:p>
        </p:txBody>
      </p:sp>
      <p:sp>
        <p:nvSpPr>
          <p:cNvPr id="9" name="Shape 7"/>
          <p:cNvSpPr/>
          <p:nvPr/>
        </p:nvSpPr>
        <p:spPr>
          <a:xfrm>
            <a:off x="640080" y="3355848"/>
            <a:ext cx="237744" cy="237744"/>
          </a:xfrm>
          <a:prstGeom prst="ellipse">
            <a:avLst/>
          </a:prstGeom>
          <a:solidFill>
            <a:srgbClr val="FDF3E0"/>
          </a:solidFill>
          <a:ln w="12700">
            <a:solidFill>
              <a:srgbClr val="FDF3E0"/>
            </a:solidFill>
            <a:prstDash val="solid"/>
          </a:ln>
        </p:spPr>
      </p:sp>
      <p:sp>
        <p:nvSpPr>
          <p:cNvPr id="10" name="Shape 8"/>
          <p:cNvSpPr/>
          <p:nvPr/>
        </p:nvSpPr>
        <p:spPr>
          <a:xfrm>
            <a:off x="722376" y="3438144"/>
            <a:ext cx="73152" cy="73152"/>
          </a:xfrm>
          <a:prstGeom prst="ellipse">
            <a:avLst/>
          </a:prstGeom>
          <a:solidFill>
            <a:srgbClr val="C97B1A"/>
          </a:solidFill>
          <a:ln w="12700">
            <a:solidFill>
              <a:srgbClr val="C97B1A"/>
            </a:solidFill>
            <a:prstDash val="solid"/>
          </a:ln>
        </p:spPr>
      </p:sp>
      <p:sp>
        <p:nvSpPr>
          <p:cNvPr id="11" name="Text 9"/>
          <p:cNvSpPr/>
          <p:nvPr/>
        </p:nvSpPr>
        <p:spPr>
          <a:xfrm>
            <a:off x="1051560" y="329184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Search and full profiles</a:t>
            </a:r>
            <a:endParaRPr lang="en-US" sz="1500" dirty="0"/>
          </a:p>
        </p:txBody>
      </p:sp>
      <p:sp>
        <p:nvSpPr>
          <p:cNvPr id="12" name="Text 10"/>
          <p:cNvSpPr/>
          <p:nvPr/>
        </p:nvSpPr>
        <p:spPr>
          <a:xfrm>
            <a:off x="1051560" y="360273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Phone, email, birthday, occupation, and how they found you.</a:t>
            </a:r>
            <a:endParaRPr lang="en-US" sz="1250" dirty="0"/>
          </a:p>
        </p:txBody>
      </p:sp>
      <p:sp>
        <p:nvSpPr>
          <p:cNvPr id="13" name="Shape 11"/>
          <p:cNvSpPr/>
          <p:nvPr/>
        </p:nvSpPr>
        <p:spPr>
          <a:xfrm>
            <a:off x="640080" y="4407408"/>
            <a:ext cx="237744" cy="237744"/>
          </a:xfrm>
          <a:prstGeom prst="ellipse">
            <a:avLst/>
          </a:prstGeom>
          <a:solidFill>
            <a:srgbClr val="FDF3E0"/>
          </a:solidFill>
          <a:ln w="12700">
            <a:solidFill>
              <a:srgbClr val="FDF3E0"/>
            </a:solidFill>
            <a:prstDash val="solid"/>
          </a:ln>
        </p:spPr>
      </p:sp>
      <p:sp>
        <p:nvSpPr>
          <p:cNvPr id="14" name="Shape 12"/>
          <p:cNvSpPr/>
          <p:nvPr/>
        </p:nvSpPr>
        <p:spPr>
          <a:xfrm>
            <a:off x="722376" y="4489704"/>
            <a:ext cx="73152" cy="73152"/>
          </a:xfrm>
          <a:prstGeom prst="ellipse">
            <a:avLst/>
          </a:prstGeom>
          <a:solidFill>
            <a:srgbClr val="C97B1A"/>
          </a:solidFill>
          <a:ln w="12700">
            <a:solidFill>
              <a:srgbClr val="C97B1A"/>
            </a:solidFill>
            <a:prstDash val="solid"/>
          </a:ln>
        </p:spPr>
      </p:sp>
      <p:sp>
        <p:nvSpPr>
          <p:cNvPr id="15" name="Text 13"/>
          <p:cNvSpPr/>
          <p:nvPr/>
        </p:nvSpPr>
        <p:spPr>
          <a:xfrm>
            <a:off x="1051560" y="434340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Export to Excel anytime</a:t>
            </a:r>
            <a:endParaRPr lang="en-US" sz="1500" dirty="0"/>
          </a:p>
        </p:txBody>
      </p:sp>
      <p:sp>
        <p:nvSpPr>
          <p:cNvPr id="16" name="Text 14"/>
          <p:cNvSpPr/>
          <p:nvPr/>
        </p:nvSpPr>
        <p:spPr>
          <a:xfrm>
            <a:off x="1051560" y="465429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Your data is yours — one click downloads all of it.</a:t>
            </a:r>
            <a:endParaRPr lang="en-US" sz="1250" dirty="0"/>
          </a:p>
        </p:txBody>
      </p:sp>
      <p:sp>
        <p:nvSpPr>
          <p:cNvPr id="17" name="Shape 15"/>
          <p:cNvSpPr/>
          <p:nvPr/>
        </p:nvSpPr>
        <p:spPr>
          <a:xfrm>
            <a:off x="6858000" y="1965960"/>
            <a:ext cx="4663440" cy="3931920"/>
          </a:xfrm>
          <a:prstGeom prst="roundRect">
            <a:avLst>
              <a:gd name="adj" fmla="val 2791"/>
            </a:avLst>
          </a:prstGeom>
          <a:solidFill>
            <a:srgbClr val="FFFFFF"/>
          </a:solidFill>
          <a:ln w="12700">
            <a:solidFill>
              <a:srgbClr val="FFFFFF"/>
            </a:solidFill>
            <a:prstDash val="solid"/>
          </a:ln>
          <a:effectLst>
            <a:outerShdw sx="100000" sy="100000" kx="0" ky="0" algn="bl" rotWithShape="0" blurRad="279400" dist="76200" dir="5400000">
              <a:srgbClr val="000000">
                <a:alpha val="22000"/>
              </a:srgbClr>
            </a:outerShdw>
          </a:effectLst>
        </p:spPr>
      </p:sp>
      <p:sp>
        <p:nvSpPr>
          <p:cNvPr id="18" name="Shape 16"/>
          <p:cNvSpPr/>
          <p:nvPr/>
        </p:nvSpPr>
        <p:spPr>
          <a:xfrm>
            <a:off x="6858000" y="1965960"/>
            <a:ext cx="4663440" cy="3931920"/>
          </a:xfrm>
          <a:prstGeom prst="roundRect">
            <a:avLst>
              <a:gd name="adj" fmla="val 2791"/>
            </a:avLst>
          </a:prstGeom>
          <a:solidFill>
            <a:srgbClr val="FFFFFF"/>
          </a:solidFill>
          <a:ln w="12700">
            <a:solidFill>
              <a:srgbClr val="E4DFD5"/>
            </a:solidFill>
            <a:prstDash val="solid"/>
          </a:ln>
        </p:spPr>
      </p:sp>
      <p:sp>
        <p:nvSpPr>
          <p:cNvPr id="19" name="Shape 17"/>
          <p:cNvSpPr/>
          <p:nvPr/>
        </p:nvSpPr>
        <p:spPr>
          <a:xfrm>
            <a:off x="7223760" y="2331720"/>
            <a:ext cx="3931920" cy="457200"/>
          </a:xfrm>
          <a:prstGeom prst="roundRect">
            <a:avLst>
              <a:gd name="adj" fmla="val 16000"/>
            </a:avLst>
          </a:prstGeom>
          <a:solidFill>
            <a:srgbClr val="F8F4EE"/>
          </a:solidFill>
          <a:ln w="12700">
            <a:solidFill>
              <a:srgbClr val="E4DFD5"/>
            </a:solidFill>
            <a:prstDash val="solid"/>
          </a:ln>
        </p:spPr>
      </p:sp>
      <p:sp>
        <p:nvSpPr>
          <p:cNvPr id="20" name="Text 18"/>
          <p:cNvSpPr/>
          <p:nvPr/>
        </p:nvSpPr>
        <p:spPr>
          <a:xfrm>
            <a:off x="7424928" y="2423160"/>
            <a:ext cx="3108960" cy="274320"/>
          </a:xfrm>
          <a:prstGeom prst="rect">
            <a:avLst/>
          </a:prstGeom>
          <a:noFill/>
          <a:ln/>
        </p:spPr>
        <p:txBody>
          <a:bodyPr wrap="square" lIns="0" tIns="0" rIns="0" bIns="0" rtlCol="0" anchor="ctr"/>
          <a:lstStyle/>
          <a:p>
            <a:pPr indent="0" marL="0">
              <a:buNone/>
            </a:pPr>
            <a:r>
              <a:rPr lang="en-US" sz="1200" dirty="0">
                <a:solidFill>
                  <a:srgbClr val="A89D8E"/>
                </a:solidFill>
                <a:latin typeface="Calibri" pitchFamily="34" charset="0"/>
                <a:ea typeface="Calibri" pitchFamily="34" charset="-122"/>
                <a:cs typeface="Calibri" pitchFamily="34" charset="-120"/>
              </a:rPr>
              <a:t>Search by name or phone</a:t>
            </a:r>
            <a:endParaRPr lang="en-US" sz="1200" dirty="0"/>
          </a:p>
        </p:txBody>
      </p:sp>
      <p:sp>
        <p:nvSpPr>
          <p:cNvPr id="21" name="Shape 19"/>
          <p:cNvSpPr/>
          <p:nvPr/>
        </p:nvSpPr>
        <p:spPr>
          <a:xfrm>
            <a:off x="7242048" y="3054096"/>
            <a:ext cx="329184" cy="329184"/>
          </a:xfrm>
          <a:prstGeom prst="ellipse">
            <a:avLst/>
          </a:prstGeom>
          <a:solidFill>
            <a:srgbClr val="F8F4EE"/>
          </a:solidFill>
          <a:ln w="12700">
            <a:solidFill>
              <a:srgbClr val="F8F4EE"/>
            </a:solidFill>
            <a:prstDash val="solid"/>
          </a:ln>
        </p:spPr>
      </p:sp>
      <p:sp>
        <p:nvSpPr>
          <p:cNvPr id="22" name="Text 20"/>
          <p:cNvSpPr/>
          <p:nvPr/>
        </p:nvSpPr>
        <p:spPr>
          <a:xfrm>
            <a:off x="7242048" y="3090672"/>
            <a:ext cx="329184" cy="256032"/>
          </a:xfrm>
          <a:prstGeom prst="rect">
            <a:avLst/>
          </a:prstGeom>
          <a:noFill/>
          <a:ln/>
        </p:spPr>
        <p:txBody>
          <a:bodyPr wrap="square" lIns="0" tIns="0" rIns="0" bIns="0" rtlCol="0" anchor="ctr"/>
          <a:lstStyle/>
          <a:p>
            <a:pPr algn="ctr" indent="0" marL="0">
              <a:buNone/>
            </a:pPr>
            <a:r>
              <a:rPr lang="en-US" sz="1200" b="1" dirty="0">
                <a:solidFill>
                  <a:srgbClr val="7A6E60"/>
                </a:solidFill>
                <a:latin typeface="Calibri" pitchFamily="34" charset="0"/>
                <a:ea typeface="Calibri" pitchFamily="34" charset="-122"/>
                <a:cs typeface="Calibri" pitchFamily="34" charset="-120"/>
              </a:rPr>
              <a:t>A</a:t>
            </a:r>
            <a:endParaRPr lang="en-US" sz="1200" dirty="0"/>
          </a:p>
        </p:txBody>
      </p:sp>
      <p:sp>
        <p:nvSpPr>
          <p:cNvPr id="23" name="Text 21"/>
          <p:cNvSpPr/>
          <p:nvPr/>
        </p:nvSpPr>
        <p:spPr>
          <a:xfrm>
            <a:off x="7699248" y="3081528"/>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Abena Sarpong</a:t>
            </a:r>
            <a:endParaRPr lang="en-US" sz="1300" dirty="0"/>
          </a:p>
        </p:txBody>
      </p:sp>
      <p:sp>
        <p:nvSpPr>
          <p:cNvPr id="24" name="Shape 22"/>
          <p:cNvSpPr/>
          <p:nvPr/>
        </p:nvSpPr>
        <p:spPr>
          <a:xfrm>
            <a:off x="10104120" y="3072384"/>
            <a:ext cx="914400" cy="292608"/>
          </a:xfrm>
          <a:prstGeom prst="roundRect">
            <a:avLst>
              <a:gd name="adj" fmla="val 50000"/>
            </a:avLst>
          </a:prstGeom>
          <a:solidFill>
            <a:srgbClr val="F8F4EE"/>
          </a:solidFill>
          <a:ln w="12700">
            <a:solidFill>
              <a:srgbClr val="F8F4EE"/>
            </a:solidFill>
            <a:prstDash val="solid"/>
          </a:ln>
        </p:spPr>
      </p:sp>
      <p:sp>
        <p:nvSpPr>
          <p:cNvPr id="25" name="Text 23"/>
          <p:cNvSpPr/>
          <p:nvPr/>
        </p:nvSpPr>
        <p:spPr>
          <a:xfrm>
            <a:off x="10104120" y="3108960"/>
            <a:ext cx="914400" cy="237744"/>
          </a:xfrm>
          <a:prstGeom prst="rect">
            <a:avLst/>
          </a:prstGeom>
          <a:noFill/>
          <a:ln/>
        </p:spPr>
        <p:txBody>
          <a:bodyPr wrap="square" lIns="0" tIns="0" rIns="0" bIns="0" rtlCol="0" anchor="ctr"/>
          <a:lstStyle/>
          <a:p>
            <a:pPr algn="ctr" indent="0" marL="0">
              <a:buNone/>
            </a:pPr>
            <a:r>
              <a:rPr lang="en-US" sz="1000" b="1" dirty="0">
                <a:solidFill>
                  <a:srgbClr val="2E7D4E"/>
                </a:solidFill>
                <a:latin typeface="Calibri" pitchFamily="34" charset="0"/>
                <a:ea typeface="Calibri" pitchFamily="34" charset="-122"/>
                <a:cs typeface="Calibri" pitchFamily="34" charset="-120"/>
              </a:rPr>
              <a:t>Member</a:t>
            </a:r>
            <a:endParaRPr lang="en-US" sz="1000" dirty="0"/>
          </a:p>
        </p:txBody>
      </p:sp>
      <p:sp>
        <p:nvSpPr>
          <p:cNvPr id="26" name="Shape 24"/>
          <p:cNvSpPr/>
          <p:nvPr/>
        </p:nvSpPr>
        <p:spPr>
          <a:xfrm>
            <a:off x="7242048" y="3621024"/>
            <a:ext cx="329184" cy="329184"/>
          </a:xfrm>
          <a:prstGeom prst="ellipse">
            <a:avLst/>
          </a:prstGeom>
          <a:solidFill>
            <a:srgbClr val="F8F4EE"/>
          </a:solidFill>
          <a:ln w="12700">
            <a:solidFill>
              <a:srgbClr val="F8F4EE"/>
            </a:solidFill>
            <a:prstDash val="solid"/>
          </a:ln>
        </p:spPr>
      </p:sp>
      <p:sp>
        <p:nvSpPr>
          <p:cNvPr id="27" name="Text 25"/>
          <p:cNvSpPr/>
          <p:nvPr/>
        </p:nvSpPr>
        <p:spPr>
          <a:xfrm>
            <a:off x="7242048" y="3657600"/>
            <a:ext cx="329184" cy="256032"/>
          </a:xfrm>
          <a:prstGeom prst="rect">
            <a:avLst/>
          </a:prstGeom>
          <a:noFill/>
          <a:ln/>
        </p:spPr>
        <p:txBody>
          <a:bodyPr wrap="square" lIns="0" tIns="0" rIns="0" bIns="0" rtlCol="0" anchor="ctr"/>
          <a:lstStyle/>
          <a:p>
            <a:pPr algn="ctr" indent="0" marL="0">
              <a:buNone/>
            </a:pPr>
            <a:r>
              <a:rPr lang="en-US" sz="1200" b="1" dirty="0">
                <a:solidFill>
                  <a:srgbClr val="7A6E60"/>
                </a:solidFill>
                <a:latin typeface="Calibri" pitchFamily="34" charset="0"/>
                <a:ea typeface="Calibri" pitchFamily="34" charset="-122"/>
                <a:cs typeface="Calibri" pitchFamily="34" charset="-120"/>
              </a:rPr>
              <a:t>E</a:t>
            </a:r>
            <a:endParaRPr lang="en-US" sz="1200" dirty="0"/>
          </a:p>
        </p:txBody>
      </p:sp>
      <p:sp>
        <p:nvSpPr>
          <p:cNvPr id="28" name="Text 26"/>
          <p:cNvSpPr/>
          <p:nvPr/>
        </p:nvSpPr>
        <p:spPr>
          <a:xfrm>
            <a:off x="7699248" y="3648456"/>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Elder Kofi Mensah</a:t>
            </a:r>
            <a:endParaRPr lang="en-US" sz="1300" dirty="0"/>
          </a:p>
        </p:txBody>
      </p:sp>
      <p:sp>
        <p:nvSpPr>
          <p:cNvPr id="29" name="Shape 27"/>
          <p:cNvSpPr/>
          <p:nvPr/>
        </p:nvSpPr>
        <p:spPr>
          <a:xfrm>
            <a:off x="10104120" y="3639312"/>
            <a:ext cx="914400" cy="292608"/>
          </a:xfrm>
          <a:prstGeom prst="roundRect">
            <a:avLst>
              <a:gd name="adj" fmla="val 50000"/>
            </a:avLst>
          </a:prstGeom>
          <a:solidFill>
            <a:srgbClr val="F8F4EE"/>
          </a:solidFill>
          <a:ln w="12700">
            <a:solidFill>
              <a:srgbClr val="F8F4EE"/>
            </a:solidFill>
            <a:prstDash val="solid"/>
          </a:ln>
        </p:spPr>
      </p:sp>
      <p:sp>
        <p:nvSpPr>
          <p:cNvPr id="30" name="Text 28"/>
          <p:cNvSpPr/>
          <p:nvPr/>
        </p:nvSpPr>
        <p:spPr>
          <a:xfrm>
            <a:off x="10104120" y="3675888"/>
            <a:ext cx="914400" cy="237744"/>
          </a:xfrm>
          <a:prstGeom prst="rect">
            <a:avLst/>
          </a:prstGeom>
          <a:noFill/>
          <a:ln/>
        </p:spPr>
        <p:txBody>
          <a:bodyPr wrap="square" lIns="0" tIns="0" rIns="0" bIns="0" rtlCol="0" anchor="ctr"/>
          <a:lstStyle/>
          <a:p>
            <a:pPr algn="ctr" indent="0" marL="0">
              <a:buNone/>
            </a:pPr>
            <a:r>
              <a:rPr lang="en-US" sz="1000" b="1" dirty="0">
                <a:solidFill>
                  <a:srgbClr val="16243A"/>
                </a:solidFill>
                <a:latin typeface="Calibri" pitchFamily="34" charset="0"/>
                <a:ea typeface="Calibri" pitchFamily="34" charset="-122"/>
                <a:cs typeface="Calibri" pitchFamily="34" charset="-120"/>
              </a:rPr>
              <a:t>Leader</a:t>
            </a:r>
            <a:endParaRPr lang="en-US" sz="1000" dirty="0"/>
          </a:p>
        </p:txBody>
      </p:sp>
      <p:sp>
        <p:nvSpPr>
          <p:cNvPr id="31" name="Shape 29"/>
          <p:cNvSpPr/>
          <p:nvPr/>
        </p:nvSpPr>
        <p:spPr>
          <a:xfrm>
            <a:off x="7242048" y="4187952"/>
            <a:ext cx="329184" cy="329184"/>
          </a:xfrm>
          <a:prstGeom prst="ellipse">
            <a:avLst/>
          </a:prstGeom>
          <a:solidFill>
            <a:srgbClr val="F8F4EE"/>
          </a:solidFill>
          <a:ln w="12700">
            <a:solidFill>
              <a:srgbClr val="F8F4EE"/>
            </a:solidFill>
            <a:prstDash val="solid"/>
          </a:ln>
        </p:spPr>
      </p:sp>
      <p:sp>
        <p:nvSpPr>
          <p:cNvPr id="32" name="Text 30"/>
          <p:cNvSpPr/>
          <p:nvPr/>
        </p:nvSpPr>
        <p:spPr>
          <a:xfrm>
            <a:off x="7242048" y="4224528"/>
            <a:ext cx="329184" cy="256032"/>
          </a:xfrm>
          <a:prstGeom prst="rect">
            <a:avLst/>
          </a:prstGeom>
          <a:noFill/>
          <a:ln/>
        </p:spPr>
        <p:txBody>
          <a:bodyPr wrap="square" lIns="0" tIns="0" rIns="0" bIns="0" rtlCol="0" anchor="ctr"/>
          <a:lstStyle/>
          <a:p>
            <a:pPr algn="ctr" indent="0" marL="0">
              <a:buNone/>
            </a:pPr>
            <a:r>
              <a:rPr lang="en-US" sz="1200" b="1" dirty="0">
                <a:solidFill>
                  <a:srgbClr val="7A6E60"/>
                </a:solidFill>
                <a:latin typeface="Calibri" pitchFamily="34" charset="0"/>
                <a:ea typeface="Calibri" pitchFamily="34" charset="-122"/>
                <a:cs typeface="Calibri" pitchFamily="34" charset="-120"/>
              </a:rPr>
              <a:t>P</a:t>
            </a:r>
            <a:endParaRPr lang="en-US" sz="1200" dirty="0"/>
          </a:p>
        </p:txBody>
      </p:sp>
      <p:sp>
        <p:nvSpPr>
          <p:cNvPr id="33" name="Text 31"/>
          <p:cNvSpPr/>
          <p:nvPr/>
        </p:nvSpPr>
        <p:spPr>
          <a:xfrm>
            <a:off x="7699248" y="4215384"/>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Priscilla Agyeman</a:t>
            </a:r>
            <a:endParaRPr lang="en-US" sz="1300" dirty="0"/>
          </a:p>
        </p:txBody>
      </p:sp>
      <p:sp>
        <p:nvSpPr>
          <p:cNvPr id="34" name="Shape 32"/>
          <p:cNvSpPr/>
          <p:nvPr/>
        </p:nvSpPr>
        <p:spPr>
          <a:xfrm>
            <a:off x="10104120" y="4206240"/>
            <a:ext cx="914400" cy="292608"/>
          </a:xfrm>
          <a:prstGeom prst="roundRect">
            <a:avLst>
              <a:gd name="adj" fmla="val 50000"/>
            </a:avLst>
          </a:prstGeom>
          <a:solidFill>
            <a:srgbClr val="F8F4EE"/>
          </a:solidFill>
          <a:ln w="12700">
            <a:solidFill>
              <a:srgbClr val="F8F4EE"/>
            </a:solidFill>
            <a:prstDash val="solid"/>
          </a:ln>
        </p:spPr>
      </p:sp>
      <p:sp>
        <p:nvSpPr>
          <p:cNvPr id="35" name="Text 33"/>
          <p:cNvSpPr/>
          <p:nvPr/>
        </p:nvSpPr>
        <p:spPr>
          <a:xfrm>
            <a:off x="10104120" y="4242816"/>
            <a:ext cx="914400" cy="237744"/>
          </a:xfrm>
          <a:prstGeom prst="rect">
            <a:avLst/>
          </a:prstGeom>
          <a:noFill/>
          <a:ln/>
        </p:spPr>
        <p:txBody>
          <a:bodyPr wrap="square" lIns="0" tIns="0" rIns="0" bIns="0" rtlCol="0" anchor="ctr"/>
          <a:lstStyle/>
          <a:p>
            <a:pPr algn="ctr" indent="0" marL="0">
              <a:buNone/>
            </a:pPr>
            <a:r>
              <a:rPr lang="en-US" sz="1000" b="1" dirty="0">
                <a:solidFill>
                  <a:srgbClr val="C97B1A"/>
                </a:solidFill>
                <a:latin typeface="Calibri" pitchFamily="34" charset="0"/>
                <a:ea typeface="Calibri" pitchFamily="34" charset="-122"/>
                <a:cs typeface="Calibri" pitchFamily="34" charset="-120"/>
              </a:rPr>
              <a:t>Visitor</a:t>
            </a:r>
            <a:endParaRPr lang="en-US" sz="1000" dirty="0"/>
          </a:p>
        </p:txBody>
      </p:sp>
      <p:sp>
        <p:nvSpPr>
          <p:cNvPr id="36" name="Shape 34"/>
          <p:cNvSpPr/>
          <p:nvPr/>
        </p:nvSpPr>
        <p:spPr>
          <a:xfrm>
            <a:off x="7242048" y="4754880"/>
            <a:ext cx="329184" cy="329184"/>
          </a:xfrm>
          <a:prstGeom prst="ellipse">
            <a:avLst/>
          </a:prstGeom>
          <a:solidFill>
            <a:srgbClr val="F8F4EE"/>
          </a:solidFill>
          <a:ln w="12700">
            <a:solidFill>
              <a:srgbClr val="F8F4EE"/>
            </a:solidFill>
            <a:prstDash val="solid"/>
          </a:ln>
        </p:spPr>
      </p:sp>
      <p:sp>
        <p:nvSpPr>
          <p:cNvPr id="37" name="Text 35"/>
          <p:cNvSpPr/>
          <p:nvPr/>
        </p:nvSpPr>
        <p:spPr>
          <a:xfrm>
            <a:off x="7242048" y="4791456"/>
            <a:ext cx="329184" cy="256032"/>
          </a:xfrm>
          <a:prstGeom prst="rect">
            <a:avLst/>
          </a:prstGeom>
          <a:noFill/>
          <a:ln/>
        </p:spPr>
        <p:txBody>
          <a:bodyPr wrap="square" lIns="0" tIns="0" rIns="0" bIns="0" rtlCol="0" anchor="ctr"/>
          <a:lstStyle/>
          <a:p>
            <a:pPr algn="ctr" indent="0" marL="0">
              <a:buNone/>
            </a:pPr>
            <a:r>
              <a:rPr lang="en-US" sz="1200" b="1" dirty="0">
                <a:solidFill>
                  <a:srgbClr val="7A6E60"/>
                </a:solidFill>
                <a:latin typeface="Calibri" pitchFamily="34" charset="0"/>
                <a:ea typeface="Calibri" pitchFamily="34" charset="-122"/>
                <a:cs typeface="Calibri" pitchFamily="34" charset="-120"/>
              </a:rPr>
              <a:t>K</a:t>
            </a:r>
            <a:endParaRPr lang="en-US" sz="1200" dirty="0"/>
          </a:p>
        </p:txBody>
      </p:sp>
      <p:sp>
        <p:nvSpPr>
          <p:cNvPr id="38" name="Text 36"/>
          <p:cNvSpPr/>
          <p:nvPr/>
        </p:nvSpPr>
        <p:spPr>
          <a:xfrm>
            <a:off x="7699248" y="4782312"/>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Kwame Osei</a:t>
            </a:r>
            <a:endParaRPr lang="en-US" sz="1300" dirty="0"/>
          </a:p>
        </p:txBody>
      </p:sp>
      <p:sp>
        <p:nvSpPr>
          <p:cNvPr id="39" name="Shape 37"/>
          <p:cNvSpPr/>
          <p:nvPr/>
        </p:nvSpPr>
        <p:spPr>
          <a:xfrm>
            <a:off x="10104120" y="4773168"/>
            <a:ext cx="914400" cy="292608"/>
          </a:xfrm>
          <a:prstGeom prst="roundRect">
            <a:avLst>
              <a:gd name="adj" fmla="val 50000"/>
            </a:avLst>
          </a:prstGeom>
          <a:solidFill>
            <a:srgbClr val="F8F4EE"/>
          </a:solidFill>
          <a:ln w="12700">
            <a:solidFill>
              <a:srgbClr val="F8F4EE"/>
            </a:solidFill>
            <a:prstDash val="solid"/>
          </a:ln>
        </p:spPr>
      </p:sp>
      <p:sp>
        <p:nvSpPr>
          <p:cNvPr id="40" name="Text 38"/>
          <p:cNvSpPr/>
          <p:nvPr/>
        </p:nvSpPr>
        <p:spPr>
          <a:xfrm>
            <a:off x="10104120" y="4809744"/>
            <a:ext cx="914400" cy="237744"/>
          </a:xfrm>
          <a:prstGeom prst="rect">
            <a:avLst/>
          </a:prstGeom>
          <a:noFill/>
          <a:ln/>
        </p:spPr>
        <p:txBody>
          <a:bodyPr wrap="square" lIns="0" tIns="0" rIns="0" bIns="0" rtlCol="0" anchor="ctr"/>
          <a:lstStyle/>
          <a:p>
            <a:pPr algn="ctr" indent="0" marL="0">
              <a:buNone/>
            </a:pPr>
            <a:r>
              <a:rPr lang="en-US" sz="1000" b="1" dirty="0">
                <a:solidFill>
                  <a:srgbClr val="2E7D4E"/>
                </a:solidFill>
                <a:latin typeface="Calibri" pitchFamily="34" charset="0"/>
                <a:ea typeface="Calibri" pitchFamily="34" charset="-122"/>
                <a:cs typeface="Calibri" pitchFamily="34" charset="-120"/>
              </a:rPr>
              <a:t>Member</a:t>
            </a:r>
            <a:endParaRPr lang="en-US" sz="1000" dirty="0"/>
          </a:p>
        </p:txBody>
      </p:sp>
      <p:sp>
        <p:nvSpPr>
          <p:cNvPr id="41" name="Shape 39"/>
          <p:cNvSpPr/>
          <p:nvPr/>
        </p:nvSpPr>
        <p:spPr>
          <a:xfrm>
            <a:off x="7242048" y="5321808"/>
            <a:ext cx="329184" cy="329184"/>
          </a:xfrm>
          <a:prstGeom prst="ellipse">
            <a:avLst/>
          </a:prstGeom>
          <a:solidFill>
            <a:srgbClr val="F8F4EE"/>
          </a:solidFill>
          <a:ln w="12700">
            <a:solidFill>
              <a:srgbClr val="F8F4EE"/>
            </a:solidFill>
            <a:prstDash val="solid"/>
          </a:ln>
        </p:spPr>
      </p:sp>
      <p:sp>
        <p:nvSpPr>
          <p:cNvPr id="42" name="Text 40"/>
          <p:cNvSpPr/>
          <p:nvPr/>
        </p:nvSpPr>
        <p:spPr>
          <a:xfrm>
            <a:off x="7242048" y="5358384"/>
            <a:ext cx="329184" cy="256032"/>
          </a:xfrm>
          <a:prstGeom prst="rect">
            <a:avLst/>
          </a:prstGeom>
          <a:noFill/>
          <a:ln/>
        </p:spPr>
        <p:txBody>
          <a:bodyPr wrap="square" lIns="0" tIns="0" rIns="0" bIns="0" rtlCol="0" anchor="ctr"/>
          <a:lstStyle/>
          <a:p>
            <a:pPr algn="ctr" indent="0" marL="0">
              <a:buNone/>
            </a:pPr>
            <a:r>
              <a:rPr lang="en-US" sz="1200" b="1" dirty="0">
                <a:solidFill>
                  <a:srgbClr val="7A6E60"/>
                </a:solidFill>
                <a:latin typeface="Calibri" pitchFamily="34" charset="0"/>
                <a:ea typeface="Calibri" pitchFamily="34" charset="-122"/>
                <a:cs typeface="Calibri" pitchFamily="34" charset="-120"/>
              </a:rPr>
              <a:t>L</a:t>
            </a:r>
            <a:endParaRPr lang="en-US" sz="1200" dirty="0"/>
          </a:p>
        </p:txBody>
      </p:sp>
      <p:sp>
        <p:nvSpPr>
          <p:cNvPr id="43" name="Text 41"/>
          <p:cNvSpPr/>
          <p:nvPr/>
        </p:nvSpPr>
        <p:spPr>
          <a:xfrm>
            <a:off x="7699248" y="5349240"/>
            <a:ext cx="2377440" cy="274320"/>
          </a:xfrm>
          <a:prstGeom prst="rect">
            <a:avLst/>
          </a:prstGeom>
          <a:noFill/>
          <a:ln/>
        </p:spPr>
        <p:txBody>
          <a:bodyPr wrap="square" lIns="0" tIns="0" rIns="0" bIns="0" rtlCol="0" anchor="ctr"/>
          <a:lstStyle/>
          <a:p>
            <a:pPr indent="0" marL="0">
              <a:buNone/>
            </a:pPr>
            <a:r>
              <a:rPr lang="en-US" sz="1300" dirty="0">
                <a:solidFill>
                  <a:srgbClr val="16243A"/>
                </a:solidFill>
                <a:latin typeface="Calibri" pitchFamily="34" charset="0"/>
                <a:ea typeface="Calibri" pitchFamily="34" charset="-122"/>
                <a:cs typeface="Calibri" pitchFamily="34" charset="-120"/>
              </a:rPr>
              <a:t>Linda Asare</a:t>
            </a:r>
            <a:endParaRPr lang="en-US" sz="1300" dirty="0"/>
          </a:p>
        </p:txBody>
      </p:sp>
      <p:sp>
        <p:nvSpPr>
          <p:cNvPr id="44" name="Shape 42"/>
          <p:cNvSpPr/>
          <p:nvPr/>
        </p:nvSpPr>
        <p:spPr>
          <a:xfrm>
            <a:off x="10104120" y="5340096"/>
            <a:ext cx="914400" cy="292608"/>
          </a:xfrm>
          <a:prstGeom prst="roundRect">
            <a:avLst>
              <a:gd name="adj" fmla="val 50000"/>
            </a:avLst>
          </a:prstGeom>
          <a:solidFill>
            <a:srgbClr val="F8F4EE"/>
          </a:solidFill>
          <a:ln w="12700">
            <a:solidFill>
              <a:srgbClr val="F8F4EE"/>
            </a:solidFill>
            <a:prstDash val="solid"/>
          </a:ln>
        </p:spPr>
      </p:sp>
      <p:sp>
        <p:nvSpPr>
          <p:cNvPr id="45" name="Text 43"/>
          <p:cNvSpPr/>
          <p:nvPr/>
        </p:nvSpPr>
        <p:spPr>
          <a:xfrm>
            <a:off x="10104120" y="5376672"/>
            <a:ext cx="914400" cy="237744"/>
          </a:xfrm>
          <a:prstGeom prst="rect">
            <a:avLst/>
          </a:prstGeom>
          <a:noFill/>
          <a:ln/>
        </p:spPr>
        <p:txBody>
          <a:bodyPr wrap="square" lIns="0" tIns="0" rIns="0" bIns="0" rtlCol="0" anchor="ctr"/>
          <a:lstStyle/>
          <a:p>
            <a:pPr algn="ctr" indent="0" marL="0">
              <a:buNone/>
            </a:pPr>
            <a:r>
              <a:rPr lang="en-US" sz="1000" b="1" dirty="0">
                <a:solidFill>
                  <a:srgbClr val="C97B1A"/>
                </a:solidFill>
                <a:latin typeface="Calibri" pitchFamily="34" charset="0"/>
                <a:ea typeface="Calibri" pitchFamily="34" charset="-122"/>
                <a:cs typeface="Calibri" pitchFamily="34" charset="-120"/>
              </a:rPr>
              <a:t>Visitor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4EE"/>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300" b="1" dirty="0">
                <a:solidFill>
                  <a:srgbClr val="C97B1A"/>
                </a:solidFill>
                <a:latin typeface="Calibri" pitchFamily="34" charset="0"/>
                <a:ea typeface="Calibri" pitchFamily="34" charset="-122"/>
                <a:cs typeface="Calibri" pitchFamily="34" charset="-120"/>
              </a:rPr>
              <a:t>4</a:t>
            </a:r>
            <a:pPr indent="0" marL="0">
              <a:buNone/>
            </a:pPr>
            <a:r>
              <a:rPr lang="en-US" sz="1100" b="1" spc="200" kern="0" dirty="0">
                <a:solidFill>
                  <a:srgbClr val="A89D8E"/>
                </a:solidFill>
                <a:latin typeface="Calibri" pitchFamily="34" charset="0"/>
                <a:ea typeface="Calibri" pitchFamily="34" charset="-122"/>
                <a:cs typeface="Calibri" pitchFamily="34" charset="-120"/>
              </a:rPr>
              <a:t>   GIVING</a:t>
            </a:r>
            <a:endParaRPr lang="en-US" sz="1300" dirty="0"/>
          </a:p>
        </p:txBody>
      </p:sp>
      <p:sp>
        <p:nvSpPr>
          <p:cNvPr id="3" name="Text 1"/>
          <p:cNvSpPr/>
          <p:nvPr/>
        </p:nvSpPr>
        <p:spPr>
          <a:xfrm>
            <a:off x="640080" y="777240"/>
            <a:ext cx="7680960" cy="59436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Giving &amp; Receipts</a:t>
            </a:r>
            <a:endParaRPr lang="en-US" sz="3400" dirty="0"/>
          </a:p>
        </p:txBody>
      </p:sp>
      <p:sp>
        <p:nvSpPr>
          <p:cNvPr id="4" name="Text 2"/>
          <p:cNvSpPr/>
          <p:nvPr/>
        </p:nvSpPr>
        <p:spPr>
          <a:xfrm>
            <a:off x="640080" y="1417320"/>
            <a:ext cx="6949440" cy="548640"/>
          </a:xfrm>
          <a:prstGeom prst="rect">
            <a:avLst/>
          </a:prstGeom>
          <a:noFill/>
          <a:ln/>
        </p:spPr>
        <p:txBody>
          <a:bodyPr wrap="square" lIns="0" tIns="0" rIns="0" bIns="0" rtlCol="0" anchor="ctr"/>
          <a:lstStyle/>
          <a:p>
            <a:pPr indent="0" marL="0">
              <a:buNone/>
            </a:pPr>
            <a:r>
              <a:rPr lang="en-US" sz="1400" dirty="0">
                <a:solidFill>
                  <a:srgbClr val="7A6E60"/>
                </a:solidFill>
                <a:latin typeface="Calibri" pitchFamily="34" charset="0"/>
                <a:ea typeface="Calibri" pitchFamily="34" charset="-122"/>
                <a:cs typeface="Calibri" pitchFamily="34" charset="-120"/>
              </a:rPr>
              <a:t>Record tithes, offerings, seed and pledges — and the giver gets a receipt by email automatically.</a:t>
            </a:r>
            <a:endParaRPr lang="en-US" sz="1400" dirty="0"/>
          </a:p>
        </p:txBody>
      </p:sp>
      <p:sp>
        <p:nvSpPr>
          <p:cNvPr id="5" name="Shape 3"/>
          <p:cNvSpPr/>
          <p:nvPr/>
        </p:nvSpPr>
        <p:spPr>
          <a:xfrm>
            <a:off x="640080" y="2304288"/>
            <a:ext cx="237744" cy="237744"/>
          </a:xfrm>
          <a:prstGeom prst="ellipse">
            <a:avLst/>
          </a:prstGeom>
          <a:solidFill>
            <a:srgbClr val="FDF3E0"/>
          </a:solidFill>
          <a:ln w="12700">
            <a:solidFill>
              <a:srgbClr val="FDF3E0"/>
            </a:solidFill>
            <a:prstDash val="solid"/>
          </a:ln>
        </p:spPr>
      </p:sp>
      <p:sp>
        <p:nvSpPr>
          <p:cNvPr id="6" name="Shape 4"/>
          <p:cNvSpPr/>
          <p:nvPr/>
        </p:nvSpPr>
        <p:spPr>
          <a:xfrm>
            <a:off x="722376" y="2386584"/>
            <a:ext cx="73152" cy="73152"/>
          </a:xfrm>
          <a:prstGeom prst="ellipse">
            <a:avLst/>
          </a:prstGeom>
          <a:solidFill>
            <a:srgbClr val="C97B1A"/>
          </a:solidFill>
          <a:ln w="12700">
            <a:solidFill>
              <a:srgbClr val="C97B1A"/>
            </a:solidFill>
            <a:prstDash val="solid"/>
          </a:ln>
        </p:spPr>
      </p:sp>
      <p:sp>
        <p:nvSpPr>
          <p:cNvPr id="7" name="Text 5"/>
          <p:cNvSpPr/>
          <p:nvPr/>
        </p:nvSpPr>
        <p:spPr>
          <a:xfrm>
            <a:off x="1051560" y="224028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Every gift type, one place</a:t>
            </a:r>
            <a:endParaRPr lang="en-US" sz="1500" dirty="0"/>
          </a:p>
        </p:txBody>
      </p:sp>
      <p:sp>
        <p:nvSpPr>
          <p:cNvPr id="8" name="Text 6"/>
          <p:cNvSpPr/>
          <p:nvPr/>
        </p:nvSpPr>
        <p:spPr>
          <a:xfrm>
            <a:off x="1051560" y="255117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Tithe, offering, seed, pledge — each with its own monthly total.</a:t>
            </a:r>
            <a:endParaRPr lang="en-US" sz="1250" dirty="0"/>
          </a:p>
        </p:txBody>
      </p:sp>
      <p:sp>
        <p:nvSpPr>
          <p:cNvPr id="9" name="Shape 7"/>
          <p:cNvSpPr/>
          <p:nvPr/>
        </p:nvSpPr>
        <p:spPr>
          <a:xfrm>
            <a:off x="640080" y="3355848"/>
            <a:ext cx="237744" cy="237744"/>
          </a:xfrm>
          <a:prstGeom prst="ellipse">
            <a:avLst/>
          </a:prstGeom>
          <a:solidFill>
            <a:srgbClr val="FDF3E0"/>
          </a:solidFill>
          <a:ln w="12700">
            <a:solidFill>
              <a:srgbClr val="FDF3E0"/>
            </a:solidFill>
            <a:prstDash val="solid"/>
          </a:ln>
        </p:spPr>
      </p:sp>
      <p:sp>
        <p:nvSpPr>
          <p:cNvPr id="10" name="Shape 8"/>
          <p:cNvSpPr/>
          <p:nvPr/>
        </p:nvSpPr>
        <p:spPr>
          <a:xfrm>
            <a:off x="722376" y="3438144"/>
            <a:ext cx="73152" cy="73152"/>
          </a:xfrm>
          <a:prstGeom prst="ellipse">
            <a:avLst/>
          </a:prstGeom>
          <a:solidFill>
            <a:srgbClr val="C97B1A"/>
          </a:solidFill>
          <a:ln w="12700">
            <a:solidFill>
              <a:srgbClr val="C97B1A"/>
            </a:solidFill>
            <a:prstDash val="solid"/>
          </a:ln>
        </p:spPr>
      </p:sp>
      <p:sp>
        <p:nvSpPr>
          <p:cNvPr id="11" name="Text 9"/>
          <p:cNvSpPr/>
          <p:nvPr/>
        </p:nvSpPr>
        <p:spPr>
          <a:xfrm>
            <a:off x="1051560" y="329184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Automatic email receipts</a:t>
            </a:r>
            <a:endParaRPr lang="en-US" sz="1500" dirty="0"/>
          </a:p>
        </p:txBody>
      </p:sp>
      <p:sp>
        <p:nvSpPr>
          <p:cNvPr id="12" name="Text 10"/>
          <p:cNvSpPr/>
          <p:nvPr/>
        </p:nvSpPr>
        <p:spPr>
          <a:xfrm>
            <a:off x="1051560" y="360273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Record a gift with an email address and the receipt sends itself.</a:t>
            </a:r>
            <a:endParaRPr lang="en-US" sz="1250" dirty="0"/>
          </a:p>
        </p:txBody>
      </p:sp>
      <p:sp>
        <p:nvSpPr>
          <p:cNvPr id="13" name="Shape 11"/>
          <p:cNvSpPr/>
          <p:nvPr/>
        </p:nvSpPr>
        <p:spPr>
          <a:xfrm>
            <a:off x="640080" y="4407408"/>
            <a:ext cx="237744" cy="237744"/>
          </a:xfrm>
          <a:prstGeom prst="ellipse">
            <a:avLst/>
          </a:prstGeom>
          <a:solidFill>
            <a:srgbClr val="FDF3E0"/>
          </a:solidFill>
          <a:ln w="12700">
            <a:solidFill>
              <a:srgbClr val="FDF3E0"/>
            </a:solidFill>
            <a:prstDash val="solid"/>
          </a:ln>
        </p:spPr>
      </p:sp>
      <p:sp>
        <p:nvSpPr>
          <p:cNvPr id="14" name="Shape 12"/>
          <p:cNvSpPr/>
          <p:nvPr/>
        </p:nvSpPr>
        <p:spPr>
          <a:xfrm>
            <a:off x="722376" y="4489704"/>
            <a:ext cx="73152" cy="73152"/>
          </a:xfrm>
          <a:prstGeom prst="ellipse">
            <a:avLst/>
          </a:prstGeom>
          <a:solidFill>
            <a:srgbClr val="C97B1A"/>
          </a:solidFill>
          <a:ln w="12700">
            <a:solidFill>
              <a:srgbClr val="C97B1A"/>
            </a:solidFill>
            <a:prstDash val="solid"/>
          </a:ln>
        </p:spPr>
      </p:sp>
      <p:sp>
        <p:nvSpPr>
          <p:cNvPr id="15" name="Text 13"/>
          <p:cNvSpPr/>
          <p:nvPr/>
        </p:nvSpPr>
        <p:spPr>
          <a:xfrm>
            <a:off x="1051560" y="434340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Clear monthly and yearly totals</a:t>
            </a:r>
            <a:endParaRPr lang="en-US" sz="1500" dirty="0"/>
          </a:p>
        </p:txBody>
      </p:sp>
      <p:sp>
        <p:nvSpPr>
          <p:cNvPr id="16" name="Text 14"/>
          <p:cNvSpPr/>
          <p:nvPr/>
        </p:nvSpPr>
        <p:spPr>
          <a:xfrm>
            <a:off x="1051560" y="465429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See exactly what came in, by type, for any month or year.</a:t>
            </a:r>
            <a:endParaRPr lang="en-US" sz="1250" dirty="0"/>
          </a:p>
        </p:txBody>
      </p:sp>
      <p:sp>
        <p:nvSpPr>
          <p:cNvPr id="17" name="Shape 15"/>
          <p:cNvSpPr/>
          <p:nvPr/>
        </p:nvSpPr>
        <p:spPr>
          <a:xfrm>
            <a:off x="6858000" y="1965960"/>
            <a:ext cx="4663440" cy="3931920"/>
          </a:xfrm>
          <a:prstGeom prst="roundRect">
            <a:avLst>
              <a:gd name="adj" fmla="val 2791"/>
            </a:avLst>
          </a:prstGeom>
          <a:solidFill>
            <a:srgbClr val="FFFFFF"/>
          </a:solidFill>
          <a:ln w="12700">
            <a:solidFill>
              <a:srgbClr val="FFFFFF"/>
            </a:solidFill>
            <a:prstDash val="solid"/>
          </a:ln>
          <a:effectLst>
            <a:outerShdw sx="100000" sy="100000" kx="0" ky="0" algn="bl" rotWithShape="0" blurRad="279400" dist="76200" dir="5400000">
              <a:srgbClr val="000000">
                <a:alpha val="22000"/>
              </a:srgbClr>
            </a:outerShdw>
          </a:effectLst>
        </p:spPr>
      </p:sp>
      <p:sp>
        <p:nvSpPr>
          <p:cNvPr id="18" name="Shape 16"/>
          <p:cNvSpPr/>
          <p:nvPr/>
        </p:nvSpPr>
        <p:spPr>
          <a:xfrm>
            <a:off x="6858000" y="1965960"/>
            <a:ext cx="4663440" cy="3931920"/>
          </a:xfrm>
          <a:prstGeom prst="roundRect">
            <a:avLst>
              <a:gd name="adj" fmla="val 2791"/>
            </a:avLst>
          </a:prstGeom>
          <a:solidFill>
            <a:srgbClr val="FFFFFF"/>
          </a:solidFill>
          <a:ln w="12700">
            <a:solidFill>
              <a:srgbClr val="E4DFD5"/>
            </a:solidFill>
            <a:prstDash val="solid"/>
          </a:ln>
        </p:spPr>
      </p:sp>
      <p:sp>
        <p:nvSpPr>
          <p:cNvPr id="19" name="Text 17"/>
          <p:cNvSpPr/>
          <p:nvPr/>
        </p:nvSpPr>
        <p:spPr>
          <a:xfrm>
            <a:off x="7269480" y="2331720"/>
            <a:ext cx="3657600" cy="274320"/>
          </a:xfrm>
          <a:prstGeom prst="rect">
            <a:avLst/>
          </a:prstGeom>
          <a:noFill/>
          <a:ln/>
        </p:spPr>
        <p:txBody>
          <a:bodyPr wrap="square" lIns="0" tIns="0" rIns="0" bIns="0" rtlCol="0" anchor="ctr"/>
          <a:lstStyle/>
          <a:p>
            <a:pPr indent="0" marL="0">
              <a:buNone/>
            </a:pPr>
            <a:r>
              <a:rPr lang="en-US" sz="1050" b="1" spc="200" kern="0" dirty="0">
                <a:solidFill>
                  <a:srgbClr val="A89D8E"/>
                </a:solidFill>
                <a:latin typeface="Calibri" pitchFamily="34" charset="0"/>
                <a:ea typeface="Calibri" pitchFamily="34" charset="-122"/>
                <a:cs typeface="Calibri" pitchFamily="34" charset="-120"/>
              </a:rPr>
              <a:t>RECEIVED THIS MONTH</a:t>
            </a:r>
            <a:endParaRPr lang="en-US" sz="1050" dirty="0"/>
          </a:p>
        </p:txBody>
      </p:sp>
      <p:sp>
        <p:nvSpPr>
          <p:cNvPr id="20" name="Text 18"/>
          <p:cNvSpPr/>
          <p:nvPr/>
        </p:nvSpPr>
        <p:spPr>
          <a:xfrm>
            <a:off x="7269480" y="2651760"/>
            <a:ext cx="3840480" cy="594360"/>
          </a:xfrm>
          <a:prstGeom prst="rect">
            <a:avLst/>
          </a:prstGeom>
          <a:noFill/>
          <a:ln/>
        </p:spPr>
        <p:txBody>
          <a:bodyPr wrap="square" lIns="0" tIns="0" rIns="0" bIns="0" rtlCol="0" anchor="ctr"/>
          <a:lstStyle/>
          <a:p>
            <a:pPr indent="0" marL="0">
              <a:buNone/>
            </a:pPr>
            <a:r>
              <a:rPr lang="en-US" sz="3600" b="1" dirty="0">
                <a:solidFill>
                  <a:srgbClr val="16243A"/>
                </a:solidFill>
                <a:latin typeface="Cambria" pitchFamily="34" charset="0"/>
                <a:ea typeface="Cambria" pitchFamily="34" charset="-122"/>
                <a:cs typeface="Cambria" pitchFamily="34" charset="-120"/>
              </a:rPr>
              <a:t>GHS 4,850.00</a:t>
            </a:r>
            <a:endParaRPr lang="en-US" sz="3600" dirty="0"/>
          </a:p>
        </p:txBody>
      </p:sp>
      <p:sp>
        <p:nvSpPr>
          <p:cNvPr id="21" name="Text 19"/>
          <p:cNvSpPr/>
          <p:nvPr/>
        </p:nvSpPr>
        <p:spPr>
          <a:xfrm>
            <a:off x="7269480" y="3520440"/>
            <a:ext cx="1463040" cy="256032"/>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Tithes</a:t>
            </a:r>
            <a:endParaRPr lang="en-US" sz="1250" dirty="0"/>
          </a:p>
        </p:txBody>
      </p:sp>
      <p:sp>
        <p:nvSpPr>
          <p:cNvPr id="22" name="Text 20"/>
          <p:cNvSpPr/>
          <p:nvPr/>
        </p:nvSpPr>
        <p:spPr>
          <a:xfrm>
            <a:off x="9692640" y="3520440"/>
            <a:ext cx="1417320" cy="256032"/>
          </a:xfrm>
          <a:prstGeom prst="rect">
            <a:avLst/>
          </a:prstGeom>
          <a:noFill/>
          <a:ln/>
        </p:spPr>
        <p:txBody>
          <a:bodyPr wrap="square" lIns="0" tIns="0" rIns="0" bIns="0" rtlCol="0" anchor="ctr"/>
          <a:lstStyle/>
          <a:p>
            <a:pPr algn="r" indent="0" marL="0">
              <a:buNone/>
            </a:pPr>
            <a:r>
              <a:rPr lang="en-US" sz="1250" b="1" dirty="0">
                <a:solidFill>
                  <a:srgbClr val="16243A"/>
                </a:solidFill>
                <a:latin typeface="Calibri" pitchFamily="34" charset="0"/>
                <a:ea typeface="Calibri" pitchFamily="34" charset="-122"/>
                <a:cs typeface="Calibri" pitchFamily="34" charset="-120"/>
              </a:rPr>
              <a:t>GHS 2,400</a:t>
            </a:r>
            <a:endParaRPr lang="en-US" sz="1250" dirty="0"/>
          </a:p>
        </p:txBody>
      </p:sp>
      <p:sp>
        <p:nvSpPr>
          <p:cNvPr id="23" name="Shape 21"/>
          <p:cNvSpPr/>
          <p:nvPr/>
        </p:nvSpPr>
        <p:spPr>
          <a:xfrm>
            <a:off x="7269480" y="3822192"/>
            <a:ext cx="3840480" cy="91440"/>
          </a:xfrm>
          <a:prstGeom prst="roundRect">
            <a:avLst>
              <a:gd name="adj" fmla="val 50000"/>
            </a:avLst>
          </a:prstGeom>
          <a:solidFill>
            <a:srgbClr val="EFEDE7"/>
          </a:solidFill>
          <a:ln w="12700">
            <a:solidFill>
              <a:srgbClr val="EFEDE7"/>
            </a:solidFill>
            <a:prstDash val="solid"/>
          </a:ln>
        </p:spPr>
      </p:sp>
      <p:sp>
        <p:nvSpPr>
          <p:cNvPr id="24" name="Shape 22"/>
          <p:cNvSpPr/>
          <p:nvPr/>
        </p:nvSpPr>
        <p:spPr>
          <a:xfrm>
            <a:off x="7269480" y="3822192"/>
            <a:ext cx="3840480" cy="91440"/>
          </a:xfrm>
          <a:prstGeom prst="roundRect">
            <a:avLst>
              <a:gd name="adj" fmla="val 50000"/>
            </a:avLst>
          </a:prstGeom>
          <a:solidFill>
            <a:srgbClr val="C97B1A"/>
          </a:solidFill>
          <a:ln w="12700">
            <a:solidFill>
              <a:srgbClr val="C97B1A"/>
            </a:solidFill>
            <a:prstDash val="solid"/>
          </a:ln>
        </p:spPr>
      </p:sp>
      <p:sp>
        <p:nvSpPr>
          <p:cNvPr id="25" name="Text 23"/>
          <p:cNvSpPr/>
          <p:nvPr/>
        </p:nvSpPr>
        <p:spPr>
          <a:xfrm>
            <a:off x="7269480" y="4087368"/>
            <a:ext cx="1463040" cy="256032"/>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Offerings</a:t>
            </a:r>
            <a:endParaRPr lang="en-US" sz="1250" dirty="0"/>
          </a:p>
        </p:txBody>
      </p:sp>
      <p:sp>
        <p:nvSpPr>
          <p:cNvPr id="26" name="Text 24"/>
          <p:cNvSpPr/>
          <p:nvPr/>
        </p:nvSpPr>
        <p:spPr>
          <a:xfrm>
            <a:off x="9692640" y="4087368"/>
            <a:ext cx="1417320" cy="256032"/>
          </a:xfrm>
          <a:prstGeom prst="rect">
            <a:avLst/>
          </a:prstGeom>
          <a:noFill/>
          <a:ln/>
        </p:spPr>
        <p:txBody>
          <a:bodyPr wrap="square" lIns="0" tIns="0" rIns="0" bIns="0" rtlCol="0" anchor="ctr"/>
          <a:lstStyle/>
          <a:p>
            <a:pPr algn="r" indent="0" marL="0">
              <a:buNone/>
            </a:pPr>
            <a:r>
              <a:rPr lang="en-US" sz="1250" b="1" dirty="0">
                <a:solidFill>
                  <a:srgbClr val="16243A"/>
                </a:solidFill>
                <a:latin typeface="Calibri" pitchFamily="34" charset="0"/>
                <a:ea typeface="Calibri" pitchFamily="34" charset="-122"/>
                <a:cs typeface="Calibri" pitchFamily="34" charset="-120"/>
              </a:rPr>
              <a:t>GHS 1,300</a:t>
            </a:r>
            <a:endParaRPr lang="en-US" sz="1250" dirty="0"/>
          </a:p>
        </p:txBody>
      </p:sp>
      <p:sp>
        <p:nvSpPr>
          <p:cNvPr id="27" name="Shape 25"/>
          <p:cNvSpPr/>
          <p:nvPr/>
        </p:nvSpPr>
        <p:spPr>
          <a:xfrm>
            <a:off x="7269480" y="4389120"/>
            <a:ext cx="3840480" cy="91440"/>
          </a:xfrm>
          <a:prstGeom prst="roundRect">
            <a:avLst>
              <a:gd name="adj" fmla="val 50000"/>
            </a:avLst>
          </a:prstGeom>
          <a:solidFill>
            <a:srgbClr val="EFEDE7"/>
          </a:solidFill>
          <a:ln w="12700">
            <a:solidFill>
              <a:srgbClr val="EFEDE7"/>
            </a:solidFill>
            <a:prstDash val="solid"/>
          </a:ln>
        </p:spPr>
      </p:sp>
      <p:sp>
        <p:nvSpPr>
          <p:cNvPr id="28" name="Shape 26"/>
          <p:cNvSpPr/>
          <p:nvPr/>
        </p:nvSpPr>
        <p:spPr>
          <a:xfrm>
            <a:off x="7269480" y="4389120"/>
            <a:ext cx="2073859" cy="91440"/>
          </a:xfrm>
          <a:prstGeom prst="roundRect">
            <a:avLst>
              <a:gd name="adj" fmla="val 50000"/>
            </a:avLst>
          </a:prstGeom>
          <a:solidFill>
            <a:srgbClr val="C97B1A"/>
          </a:solidFill>
          <a:ln w="12700">
            <a:solidFill>
              <a:srgbClr val="C97B1A"/>
            </a:solidFill>
            <a:prstDash val="solid"/>
          </a:ln>
        </p:spPr>
      </p:sp>
      <p:sp>
        <p:nvSpPr>
          <p:cNvPr id="29" name="Text 27"/>
          <p:cNvSpPr/>
          <p:nvPr/>
        </p:nvSpPr>
        <p:spPr>
          <a:xfrm>
            <a:off x="7269480" y="4654296"/>
            <a:ext cx="1463040" cy="256032"/>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Seeds</a:t>
            </a:r>
            <a:endParaRPr lang="en-US" sz="1250" dirty="0"/>
          </a:p>
        </p:txBody>
      </p:sp>
      <p:sp>
        <p:nvSpPr>
          <p:cNvPr id="30" name="Text 28"/>
          <p:cNvSpPr/>
          <p:nvPr/>
        </p:nvSpPr>
        <p:spPr>
          <a:xfrm>
            <a:off x="9692640" y="4654296"/>
            <a:ext cx="1417320" cy="256032"/>
          </a:xfrm>
          <a:prstGeom prst="rect">
            <a:avLst/>
          </a:prstGeom>
          <a:noFill/>
          <a:ln/>
        </p:spPr>
        <p:txBody>
          <a:bodyPr wrap="square" lIns="0" tIns="0" rIns="0" bIns="0" rtlCol="0" anchor="ctr"/>
          <a:lstStyle/>
          <a:p>
            <a:pPr algn="r" indent="0" marL="0">
              <a:buNone/>
            </a:pPr>
            <a:r>
              <a:rPr lang="en-US" sz="1250" b="1" dirty="0">
                <a:solidFill>
                  <a:srgbClr val="16243A"/>
                </a:solidFill>
                <a:latin typeface="Calibri" pitchFamily="34" charset="0"/>
                <a:ea typeface="Calibri" pitchFamily="34" charset="-122"/>
                <a:cs typeface="Calibri" pitchFamily="34" charset="-120"/>
              </a:rPr>
              <a:t>GHS 750</a:t>
            </a:r>
            <a:endParaRPr lang="en-US" sz="1250" dirty="0"/>
          </a:p>
        </p:txBody>
      </p:sp>
      <p:sp>
        <p:nvSpPr>
          <p:cNvPr id="31" name="Shape 29"/>
          <p:cNvSpPr/>
          <p:nvPr/>
        </p:nvSpPr>
        <p:spPr>
          <a:xfrm>
            <a:off x="7269480" y="4956048"/>
            <a:ext cx="3840480" cy="91440"/>
          </a:xfrm>
          <a:prstGeom prst="roundRect">
            <a:avLst>
              <a:gd name="adj" fmla="val 50000"/>
            </a:avLst>
          </a:prstGeom>
          <a:solidFill>
            <a:srgbClr val="EFEDE7"/>
          </a:solidFill>
          <a:ln w="12700">
            <a:solidFill>
              <a:srgbClr val="EFEDE7"/>
            </a:solidFill>
            <a:prstDash val="solid"/>
          </a:ln>
        </p:spPr>
      </p:sp>
      <p:sp>
        <p:nvSpPr>
          <p:cNvPr id="32" name="Shape 30"/>
          <p:cNvSpPr/>
          <p:nvPr/>
        </p:nvSpPr>
        <p:spPr>
          <a:xfrm>
            <a:off x="7269480" y="4956048"/>
            <a:ext cx="1190549" cy="91440"/>
          </a:xfrm>
          <a:prstGeom prst="roundRect">
            <a:avLst>
              <a:gd name="adj" fmla="val 50000"/>
            </a:avLst>
          </a:prstGeom>
          <a:solidFill>
            <a:srgbClr val="C97B1A"/>
          </a:solidFill>
          <a:ln w="12700">
            <a:solidFill>
              <a:srgbClr val="C97B1A"/>
            </a:solidFill>
            <a:prstDash val="solid"/>
          </a:ln>
        </p:spPr>
      </p:sp>
      <p:sp>
        <p:nvSpPr>
          <p:cNvPr id="33" name="Text 31"/>
          <p:cNvSpPr/>
          <p:nvPr/>
        </p:nvSpPr>
        <p:spPr>
          <a:xfrm>
            <a:off x="7269480" y="5221224"/>
            <a:ext cx="1463040" cy="256032"/>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Pledges</a:t>
            </a:r>
            <a:endParaRPr lang="en-US" sz="1250" dirty="0"/>
          </a:p>
        </p:txBody>
      </p:sp>
      <p:sp>
        <p:nvSpPr>
          <p:cNvPr id="34" name="Text 32"/>
          <p:cNvSpPr/>
          <p:nvPr/>
        </p:nvSpPr>
        <p:spPr>
          <a:xfrm>
            <a:off x="9692640" y="5221224"/>
            <a:ext cx="1417320" cy="256032"/>
          </a:xfrm>
          <a:prstGeom prst="rect">
            <a:avLst/>
          </a:prstGeom>
          <a:noFill/>
          <a:ln/>
        </p:spPr>
        <p:txBody>
          <a:bodyPr wrap="square" lIns="0" tIns="0" rIns="0" bIns="0" rtlCol="0" anchor="ctr"/>
          <a:lstStyle/>
          <a:p>
            <a:pPr algn="r" indent="0" marL="0">
              <a:buNone/>
            </a:pPr>
            <a:r>
              <a:rPr lang="en-US" sz="1250" b="1" dirty="0">
                <a:solidFill>
                  <a:srgbClr val="16243A"/>
                </a:solidFill>
                <a:latin typeface="Calibri" pitchFamily="34" charset="0"/>
                <a:ea typeface="Calibri" pitchFamily="34" charset="-122"/>
                <a:cs typeface="Calibri" pitchFamily="34" charset="-120"/>
              </a:rPr>
              <a:t>GHS 400</a:t>
            </a:r>
            <a:endParaRPr lang="en-US" sz="1250" dirty="0"/>
          </a:p>
        </p:txBody>
      </p:sp>
      <p:sp>
        <p:nvSpPr>
          <p:cNvPr id="35" name="Shape 33"/>
          <p:cNvSpPr/>
          <p:nvPr/>
        </p:nvSpPr>
        <p:spPr>
          <a:xfrm>
            <a:off x="7269480" y="5522976"/>
            <a:ext cx="3840480" cy="91440"/>
          </a:xfrm>
          <a:prstGeom prst="roundRect">
            <a:avLst>
              <a:gd name="adj" fmla="val 50000"/>
            </a:avLst>
          </a:prstGeom>
          <a:solidFill>
            <a:srgbClr val="EFEDE7"/>
          </a:solidFill>
          <a:ln w="12700">
            <a:solidFill>
              <a:srgbClr val="EFEDE7"/>
            </a:solidFill>
            <a:prstDash val="solid"/>
          </a:ln>
        </p:spPr>
      </p:sp>
      <p:sp>
        <p:nvSpPr>
          <p:cNvPr id="36" name="Shape 34"/>
          <p:cNvSpPr/>
          <p:nvPr/>
        </p:nvSpPr>
        <p:spPr>
          <a:xfrm>
            <a:off x="7269480" y="5522976"/>
            <a:ext cx="652882" cy="91440"/>
          </a:xfrm>
          <a:prstGeom prst="roundRect">
            <a:avLst>
              <a:gd name="adj" fmla="val 50000"/>
            </a:avLst>
          </a:prstGeom>
          <a:solidFill>
            <a:srgbClr val="C97B1A"/>
          </a:solidFill>
          <a:ln w="12700">
            <a:solidFill>
              <a:srgbClr val="C97B1A"/>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300" b="1" dirty="0">
                <a:solidFill>
                  <a:srgbClr val="C97B1A"/>
                </a:solidFill>
                <a:latin typeface="Calibri" pitchFamily="34" charset="0"/>
                <a:ea typeface="Calibri" pitchFamily="34" charset="-122"/>
                <a:cs typeface="Calibri" pitchFamily="34" charset="-120"/>
              </a:rPr>
              <a:t>5</a:t>
            </a:r>
            <a:pPr indent="0" marL="0">
              <a:buNone/>
            </a:pPr>
            <a:r>
              <a:rPr lang="en-US" sz="1100" b="1" spc="200" kern="0" dirty="0">
                <a:solidFill>
                  <a:srgbClr val="A89D8E"/>
                </a:solidFill>
                <a:latin typeface="Calibri" pitchFamily="34" charset="0"/>
                <a:ea typeface="Calibri" pitchFamily="34" charset="-122"/>
                <a:cs typeface="Calibri" pitchFamily="34" charset="-120"/>
              </a:rPr>
              <a:t>   ANALYTICS</a:t>
            </a:r>
            <a:endParaRPr lang="en-US" sz="1300" dirty="0"/>
          </a:p>
        </p:txBody>
      </p:sp>
      <p:sp>
        <p:nvSpPr>
          <p:cNvPr id="3" name="Text 1"/>
          <p:cNvSpPr/>
          <p:nvPr/>
        </p:nvSpPr>
        <p:spPr>
          <a:xfrm>
            <a:off x="640080" y="777240"/>
            <a:ext cx="7680960" cy="59436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Insight You Can Act On</a:t>
            </a:r>
            <a:endParaRPr lang="en-US" sz="3400" dirty="0"/>
          </a:p>
        </p:txBody>
      </p:sp>
      <p:sp>
        <p:nvSpPr>
          <p:cNvPr id="4" name="Text 2"/>
          <p:cNvSpPr/>
          <p:nvPr/>
        </p:nvSpPr>
        <p:spPr>
          <a:xfrm>
            <a:off x="640080" y="1417320"/>
            <a:ext cx="6949440" cy="548640"/>
          </a:xfrm>
          <a:prstGeom prst="rect">
            <a:avLst/>
          </a:prstGeom>
          <a:noFill/>
          <a:ln/>
        </p:spPr>
        <p:txBody>
          <a:bodyPr wrap="square" lIns="0" tIns="0" rIns="0" bIns="0" rtlCol="0" anchor="ctr"/>
          <a:lstStyle/>
          <a:p>
            <a:pPr indent="0" marL="0">
              <a:buNone/>
            </a:pPr>
            <a:r>
              <a:rPr lang="en-US" sz="1400" dirty="0">
                <a:solidFill>
                  <a:srgbClr val="7A6E60"/>
                </a:solidFill>
                <a:latin typeface="Calibri" pitchFamily="34" charset="0"/>
                <a:ea typeface="Calibri" pitchFamily="34" charset="-122"/>
                <a:cs typeface="Calibri" pitchFamily="34" charset="-120"/>
              </a:rPr>
              <a:t>The part paper never gave you: is the church growing, and who is quietly slipping away?</a:t>
            </a:r>
            <a:endParaRPr lang="en-US" sz="1400" dirty="0"/>
          </a:p>
        </p:txBody>
      </p:sp>
      <p:sp>
        <p:nvSpPr>
          <p:cNvPr id="5" name="Shape 3"/>
          <p:cNvSpPr/>
          <p:nvPr/>
        </p:nvSpPr>
        <p:spPr>
          <a:xfrm>
            <a:off x="640080" y="2304288"/>
            <a:ext cx="237744" cy="237744"/>
          </a:xfrm>
          <a:prstGeom prst="ellipse">
            <a:avLst/>
          </a:prstGeom>
          <a:solidFill>
            <a:srgbClr val="FDF3E0"/>
          </a:solidFill>
          <a:ln w="12700">
            <a:solidFill>
              <a:srgbClr val="FDF3E0"/>
            </a:solidFill>
            <a:prstDash val="solid"/>
          </a:ln>
        </p:spPr>
      </p:sp>
      <p:sp>
        <p:nvSpPr>
          <p:cNvPr id="6" name="Shape 4"/>
          <p:cNvSpPr/>
          <p:nvPr/>
        </p:nvSpPr>
        <p:spPr>
          <a:xfrm>
            <a:off x="722376" y="2386584"/>
            <a:ext cx="73152" cy="73152"/>
          </a:xfrm>
          <a:prstGeom prst="ellipse">
            <a:avLst/>
          </a:prstGeom>
          <a:solidFill>
            <a:srgbClr val="C97B1A"/>
          </a:solidFill>
          <a:ln w="12700">
            <a:solidFill>
              <a:srgbClr val="C97B1A"/>
            </a:solidFill>
            <a:prstDash val="solid"/>
          </a:ln>
        </p:spPr>
      </p:sp>
      <p:sp>
        <p:nvSpPr>
          <p:cNvPr id="7" name="Text 5"/>
          <p:cNvSpPr/>
          <p:nvPr/>
        </p:nvSpPr>
        <p:spPr>
          <a:xfrm>
            <a:off x="1051560" y="224028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Month-over-month and year-over-year</a:t>
            </a:r>
            <a:endParaRPr lang="en-US" sz="1500" dirty="0"/>
          </a:p>
        </p:txBody>
      </p:sp>
      <p:sp>
        <p:nvSpPr>
          <p:cNvPr id="8" name="Text 6"/>
          <p:cNvSpPr/>
          <p:nvPr/>
        </p:nvSpPr>
        <p:spPr>
          <a:xfrm>
            <a:off x="1051560" y="255117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Compare this month to last, and this year to the year before.</a:t>
            </a:r>
            <a:endParaRPr lang="en-US" sz="1250" dirty="0"/>
          </a:p>
        </p:txBody>
      </p:sp>
      <p:sp>
        <p:nvSpPr>
          <p:cNvPr id="9" name="Shape 7"/>
          <p:cNvSpPr/>
          <p:nvPr/>
        </p:nvSpPr>
        <p:spPr>
          <a:xfrm>
            <a:off x="640080" y="3355848"/>
            <a:ext cx="237744" cy="237744"/>
          </a:xfrm>
          <a:prstGeom prst="ellipse">
            <a:avLst/>
          </a:prstGeom>
          <a:solidFill>
            <a:srgbClr val="FDF3E0"/>
          </a:solidFill>
          <a:ln w="12700">
            <a:solidFill>
              <a:srgbClr val="FDF3E0"/>
            </a:solidFill>
            <a:prstDash val="solid"/>
          </a:ln>
        </p:spPr>
      </p:sp>
      <p:sp>
        <p:nvSpPr>
          <p:cNvPr id="10" name="Shape 8"/>
          <p:cNvSpPr/>
          <p:nvPr/>
        </p:nvSpPr>
        <p:spPr>
          <a:xfrm>
            <a:off x="722376" y="3438144"/>
            <a:ext cx="73152" cy="73152"/>
          </a:xfrm>
          <a:prstGeom prst="ellipse">
            <a:avLst/>
          </a:prstGeom>
          <a:solidFill>
            <a:srgbClr val="C97B1A"/>
          </a:solidFill>
          <a:ln w="12700">
            <a:solidFill>
              <a:srgbClr val="C97B1A"/>
            </a:solidFill>
            <a:prstDash val="solid"/>
          </a:ln>
        </p:spPr>
      </p:sp>
      <p:sp>
        <p:nvSpPr>
          <p:cNvPr id="11" name="Text 9"/>
          <p:cNvSpPr/>
          <p:nvPr/>
        </p:nvSpPr>
        <p:spPr>
          <a:xfrm>
            <a:off x="1051560" y="329184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New versus returning, and retention</a:t>
            </a:r>
            <a:endParaRPr lang="en-US" sz="1500" dirty="0"/>
          </a:p>
        </p:txBody>
      </p:sp>
      <p:sp>
        <p:nvSpPr>
          <p:cNvPr id="12" name="Text 10"/>
          <p:cNvSpPr/>
          <p:nvPr/>
        </p:nvSpPr>
        <p:spPr>
          <a:xfrm>
            <a:off x="1051560" y="360273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How many first-timers actually come back a second time.</a:t>
            </a:r>
            <a:endParaRPr lang="en-US" sz="1250" dirty="0"/>
          </a:p>
        </p:txBody>
      </p:sp>
      <p:sp>
        <p:nvSpPr>
          <p:cNvPr id="13" name="Shape 11"/>
          <p:cNvSpPr/>
          <p:nvPr/>
        </p:nvSpPr>
        <p:spPr>
          <a:xfrm>
            <a:off x="640080" y="4407408"/>
            <a:ext cx="237744" cy="237744"/>
          </a:xfrm>
          <a:prstGeom prst="ellipse">
            <a:avLst/>
          </a:prstGeom>
          <a:solidFill>
            <a:srgbClr val="FDF3E0"/>
          </a:solidFill>
          <a:ln w="12700">
            <a:solidFill>
              <a:srgbClr val="FDF3E0"/>
            </a:solidFill>
            <a:prstDash val="solid"/>
          </a:ln>
        </p:spPr>
      </p:sp>
      <p:sp>
        <p:nvSpPr>
          <p:cNvPr id="14" name="Shape 12"/>
          <p:cNvSpPr/>
          <p:nvPr/>
        </p:nvSpPr>
        <p:spPr>
          <a:xfrm>
            <a:off x="722376" y="4489704"/>
            <a:ext cx="73152" cy="73152"/>
          </a:xfrm>
          <a:prstGeom prst="ellipse">
            <a:avLst/>
          </a:prstGeom>
          <a:solidFill>
            <a:srgbClr val="C97B1A"/>
          </a:solidFill>
          <a:ln w="12700">
            <a:solidFill>
              <a:srgbClr val="C97B1A"/>
            </a:solidFill>
            <a:prstDash val="solid"/>
          </a:ln>
        </p:spPr>
      </p:sp>
      <p:sp>
        <p:nvSpPr>
          <p:cNvPr id="15" name="Text 13"/>
          <p:cNvSpPr/>
          <p:nvPr/>
        </p:nvSpPr>
        <p:spPr>
          <a:xfrm>
            <a:off x="1051560" y="434340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Who your people are</a:t>
            </a:r>
            <a:endParaRPr lang="en-US" sz="1500" dirty="0"/>
          </a:p>
        </p:txBody>
      </p:sp>
      <p:sp>
        <p:nvSpPr>
          <p:cNvPr id="16" name="Text 14"/>
          <p:cNvSpPr/>
          <p:nvPr/>
        </p:nvSpPr>
        <p:spPr>
          <a:xfrm>
            <a:off x="1051560" y="465429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Age, gender, area, occupation, and your most faithful attenders.</a:t>
            </a:r>
            <a:endParaRPr lang="en-US" sz="1250" dirty="0"/>
          </a:p>
        </p:txBody>
      </p:sp>
      <p:graphicFrame>
        <p:nvGraphicFramePr>
          <p:cNvPr id="17" name="Chart 0" descr=""/>
          <p:cNvGraphicFramePr/>
          <p:nvPr/>
        </p:nvGraphicFramePr>
        <p:xfrm>
          <a:off x="6858000" y="1965960"/>
          <a:ext cx="4663440" cy="39319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4EE"/>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300" b="1" dirty="0">
                <a:solidFill>
                  <a:srgbClr val="C97B1A"/>
                </a:solidFill>
                <a:latin typeface="Calibri" pitchFamily="34" charset="0"/>
                <a:ea typeface="Calibri" pitchFamily="34" charset="-122"/>
                <a:cs typeface="Calibri" pitchFamily="34" charset="-120"/>
              </a:rPr>
              <a:t>6</a:t>
            </a:r>
            <a:pPr indent="0" marL="0">
              <a:buNone/>
            </a:pPr>
            <a:r>
              <a:rPr lang="en-US" sz="1100" b="1" spc="200" kern="0" dirty="0">
                <a:solidFill>
                  <a:srgbClr val="A89D8E"/>
                </a:solidFill>
                <a:latin typeface="Calibri" pitchFamily="34" charset="0"/>
                <a:ea typeface="Calibri" pitchFamily="34" charset="-122"/>
                <a:cs typeface="Calibri" pitchFamily="34" charset="-120"/>
              </a:rPr>
              <a:t>   EMAILS</a:t>
            </a:r>
            <a:endParaRPr lang="en-US" sz="1300" dirty="0"/>
          </a:p>
        </p:txBody>
      </p:sp>
      <p:sp>
        <p:nvSpPr>
          <p:cNvPr id="3" name="Text 1"/>
          <p:cNvSpPr/>
          <p:nvPr/>
        </p:nvSpPr>
        <p:spPr>
          <a:xfrm>
            <a:off x="640080" y="777240"/>
            <a:ext cx="7680960" cy="59436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Emails That Send Themselves</a:t>
            </a:r>
            <a:endParaRPr lang="en-US" sz="3400" dirty="0"/>
          </a:p>
        </p:txBody>
      </p:sp>
      <p:sp>
        <p:nvSpPr>
          <p:cNvPr id="4" name="Text 2"/>
          <p:cNvSpPr/>
          <p:nvPr/>
        </p:nvSpPr>
        <p:spPr>
          <a:xfrm>
            <a:off x="640080" y="1417320"/>
            <a:ext cx="6949440" cy="548640"/>
          </a:xfrm>
          <a:prstGeom prst="rect">
            <a:avLst/>
          </a:prstGeom>
          <a:noFill/>
          <a:ln/>
        </p:spPr>
        <p:txBody>
          <a:bodyPr wrap="square" lIns="0" tIns="0" rIns="0" bIns="0" rtlCol="0" anchor="ctr"/>
          <a:lstStyle/>
          <a:p>
            <a:pPr indent="0" marL="0">
              <a:buNone/>
            </a:pPr>
            <a:r>
              <a:rPr lang="en-US" sz="1400" dirty="0">
                <a:solidFill>
                  <a:srgbClr val="7A6E60"/>
                </a:solidFill>
                <a:latin typeface="Calibri" pitchFamily="34" charset="0"/>
                <a:ea typeface="Calibri" pitchFamily="34" charset="-122"/>
                <a:cs typeface="Calibri" pitchFamily="34" charset="-120"/>
              </a:rPr>
              <a:t>Set the words once. The platform sends the right message, to the right person, at the right time.</a:t>
            </a:r>
            <a:endParaRPr lang="en-US" sz="1400" dirty="0"/>
          </a:p>
        </p:txBody>
      </p:sp>
      <p:sp>
        <p:nvSpPr>
          <p:cNvPr id="5" name="Shape 3"/>
          <p:cNvSpPr/>
          <p:nvPr/>
        </p:nvSpPr>
        <p:spPr>
          <a:xfrm>
            <a:off x="640080" y="2304288"/>
            <a:ext cx="237744" cy="237744"/>
          </a:xfrm>
          <a:prstGeom prst="ellipse">
            <a:avLst/>
          </a:prstGeom>
          <a:solidFill>
            <a:srgbClr val="FDF3E0"/>
          </a:solidFill>
          <a:ln w="12700">
            <a:solidFill>
              <a:srgbClr val="FDF3E0"/>
            </a:solidFill>
            <a:prstDash val="solid"/>
          </a:ln>
        </p:spPr>
      </p:sp>
      <p:sp>
        <p:nvSpPr>
          <p:cNvPr id="6" name="Shape 4"/>
          <p:cNvSpPr/>
          <p:nvPr/>
        </p:nvSpPr>
        <p:spPr>
          <a:xfrm>
            <a:off x="722376" y="2386584"/>
            <a:ext cx="73152" cy="73152"/>
          </a:xfrm>
          <a:prstGeom prst="ellipse">
            <a:avLst/>
          </a:prstGeom>
          <a:solidFill>
            <a:srgbClr val="C97B1A"/>
          </a:solidFill>
          <a:ln w="12700">
            <a:solidFill>
              <a:srgbClr val="C97B1A"/>
            </a:solidFill>
            <a:prstDash val="solid"/>
          </a:ln>
        </p:spPr>
      </p:sp>
      <p:sp>
        <p:nvSpPr>
          <p:cNvPr id="7" name="Text 5"/>
          <p:cNvSpPr/>
          <p:nvPr/>
        </p:nvSpPr>
        <p:spPr>
          <a:xfrm>
            <a:off x="1051560" y="224028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Welcome, birthday and we-miss-you</a:t>
            </a:r>
            <a:endParaRPr lang="en-US" sz="1500" dirty="0"/>
          </a:p>
        </p:txBody>
      </p:sp>
      <p:sp>
        <p:nvSpPr>
          <p:cNvPr id="8" name="Text 6"/>
          <p:cNvSpPr/>
          <p:nvPr/>
        </p:nvSpPr>
        <p:spPr>
          <a:xfrm>
            <a:off x="1051560" y="255117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Automatic, and personalised with each person’s own name.</a:t>
            </a:r>
            <a:endParaRPr lang="en-US" sz="1250" dirty="0"/>
          </a:p>
        </p:txBody>
      </p:sp>
      <p:sp>
        <p:nvSpPr>
          <p:cNvPr id="9" name="Shape 7"/>
          <p:cNvSpPr/>
          <p:nvPr/>
        </p:nvSpPr>
        <p:spPr>
          <a:xfrm>
            <a:off x="640080" y="3355848"/>
            <a:ext cx="237744" cy="237744"/>
          </a:xfrm>
          <a:prstGeom prst="ellipse">
            <a:avLst/>
          </a:prstGeom>
          <a:solidFill>
            <a:srgbClr val="FDF3E0"/>
          </a:solidFill>
          <a:ln w="12700">
            <a:solidFill>
              <a:srgbClr val="FDF3E0"/>
            </a:solidFill>
            <a:prstDash val="solid"/>
          </a:ln>
        </p:spPr>
      </p:sp>
      <p:sp>
        <p:nvSpPr>
          <p:cNvPr id="10" name="Shape 8"/>
          <p:cNvSpPr/>
          <p:nvPr/>
        </p:nvSpPr>
        <p:spPr>
          <a:xfrm>
            <a:off x="722376" y="3438144"/>
            <a:ext cx="73152" cy="73152"/>
          </a:xfrm>
          <a:prstGeom prst="ellipse">
            <a:avLst/>
          </a:prstGeom>
          <a:solidFill>
            <a:srgbClr val="C97B1A"/>
          </a:solidFill>
          <a:ln w="12700">
            <a:solidFill>
              <a:srgbClr val="C97B1A"/>
            </a:solidFill>
            <a:prstDash val="solid"/>
          </a:ln>
        </p:spPr>
      </p:sp>
      <p:sp>
        <p:nvSpPr>
          <p:cNvPr id="11" name="Text 9"/>
          <p:cNvSpPr/>
          <p:nvPr/>
        </p:nvSpPr>
        <p:spPr>
          <a:xfrm>
            <a:off x="1051560" y="329184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Broadcast to any group</a:t>
            </a:r>
            <a:endParaRPr lang="en-US" sz="1500" dirty="0"/>
          </a:p>
        </p:txBody>
      </p:sp>
      <p:sp>
        <p:nvSpPr>
          <p:cNvPr id="12" name="Text 10"/>
          <p:cNvSpPr/>
          <p:nvPr/>
        </p:nvSpPr>
        <p:spPr>
          <a:xfrm>
            <a:off x="1051560" y="360273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Everyone, first-timers only, or people who have gone quiet.</a:t>
            </a:r>
            <a:endParaRPr lang="en-US" sz="1250" dirty="0"/>
          </a:p>
        </p:txBody>
      </p:sp>
      <p:sp>
        <p:nvSpPr>
          <p:cNvPr id="13" name="Shape 11"/>
          <p:cNvSpPr/>
          <p:nvPr/>
        </p:nvSpPr>
        <p:spPr>
          <a:xfrm>
            <a:off x="640080" y="4407408"/>
            <a:ext cx="237744" cy="237744"/>
          </a:xfrm>
          <a:prstGeom prst="ellipse">
            <a:avLst/>
          </a:prstGeom>
          <a:solidFill>
            <a:srgbClr val="FDF3E0"/>
          </a:solidFill>
          <a:ln w="12700">
            <a:solidFill>
              <a:srgbClr val="FDF3E0"/>
            </a:solidFill>
            <a:prstDash val="solid"/>
          </a:ln>
        </p:spPr>
      </p:sp>
      <p:sp>
        <p:nvSpPr>
          <p:cNvPr id="14" name="Shape 12"/>
          <p:cNvSpPr/>
          <p:nvPr/>
        </p:nvSpPr>
        <p:spPr>
          <a:xfrm>
            <a:off x="722376" y="4489704"/>
            <a:ext cx="73152" cy="73152"/>
          </a:xfrm>
          <a:prstGeom prst="ellipse">
            <a:avLst/>
          </a:prstGeom>
          <a:solidFill>
            <a:srgbClr val="C97B1A"/>
          </a:solidFill>
          <a:ln w="12700">
            <a:solidFill>
              <a:srgbClr val="C97B1A"/>
            </a:solidFill>
            <a:prstDash val="solid"/>
          </a:ln>
        </p:spPr>
      </p:sp>
      <p:sp>
        <p:nvSpPr>
          <p:cNvPr id="15" name="Text 13"/>
          <p:cNvSpPr/>
          <p:nvPr/>
        </p:nvSpPr>
        <p:spPr>
          <a:xfrm>
            <a:off x="1051560" y="434340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Service report as a real spreadsheet</a:t>
            </a:r>
            <a:endParaRPr lang="en-US" sz="1500" dirty="0"/>
          </a:p>
        </p:txBody>
      </p:sp>
      <p:sp>
        <p:nvSpPr>
          <p:cNvPr id="16" name="Text 14"/>
          <p:cNvSpPr/>
          <p:nvPr/>
        </p:nvSpPr>
        <p:spPr>
          <a:xfrm>
            <a:off x="1051560" y="465429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Four sheets: summary, attendance, follow-up, and giving.</a:t>
            </a:r>
            <a:endParaRPr lang="en-US" sz="1250" dirty="0"/>
          </a:p>
        </p:txBody>
      </p:sp>
      <p:sp>
        <p:nvSpPr>
          <p:cNvPr id="17" name="Shape 15"/>
          <p:cNvSpPr/>
          <p:nvPr/>
        </p:nvSpPr>
        <p:spPr>
          <a:xfrm>
            <a:off x="6858000" y="1965960"/>
            <a:ext cx="4663440" cy="3931920"/>
          </a:xfrm>
          <a:prstGeom prst="roundRect">
            <a:avLst>
              <a:gd name="adj" fmla="val 2791"/>
            </a:avLst>
          </a:prstGeom>
          <a:solidFill>
            <a:srgbClr val="FFFFFF"/>
          </a:solidFill>
          <a:ln w="12700">
            <a:solidFill>
              <a:srgbClr val="FFFFFF"/>
            </a:solidFill>
            <a:prstDash val="solid"/>
          </a:ln>
          <a:effectLst>
            <a:outerShdw sx="100000" sy="100000" kx="0" ky="0" algn="bl" rotWithShape="0" blurRad="279400" dist="76200" dir="5400000">
              <a:srgbClr val="000000">
                <a:alpha val="22000"/>
              </a:srgbClr>
            </a:outerShdw>
          </a:effectLst>
        </p:spPr>
      </p:sp>
      <p:sp>
        <p:nvSpPr>
          <p:cNvPr id="18" name="Shape 16"/>
          <p:cNvSpPr/>
          <p:nvPr/>
        </p:nvSpPr>
        <p:spPr>
          <a:xfrm>
            <a:off x="6858000" y="1965960"/>
            <a:ext cx="4663440" cy="3931920"/>
          </a:xfrm>
          <a:prstGeom prst="roundRect">
            <a:avLst>
              <a:gd name="adj" fmla="val 2791"/>
            </a:avLst>
          </a:prstGeom>
          <a:solidFill>
            <a:srgbClr val="FFFFFF"/>
          </a:solidFill>
          <a:ln w="12700">
            <a:solidFill>
              <a:srgbClr val="E4DFD5"/>
            </a:solidFill>
            <a:prstDash val="solid"/>
          </a:ln>
        </p:spPr>
      </p:sp>
      <p:sp>
        <p:nvSpPr>
          <p:cNvPr id="19" name="Shape 17"/>
          <p:cNvSpPr/>
          <p:nvPr/>
        </p:nvSpPr>
        <p:spPr>
          <a:xfrm>
            <a:off x="7223760" y="2331720"/>
            <a:ext cx="3931920" cy="1143000"/>
          </a:xfrm>
          <a:prstGeom prst="roundRect">
            <a:avLst>
              <a:gd name="adj" fmla="val 6400"/>
            </a:avLst>
          </a:prstGeom>
          <a:solidFill>
            <a:srgbClr val="FDF3E0"/>
          </a:solidFill>
          <a:ln w="12700">
            <a:solidFill>
              <a:srgbClr val="FDF3E0"/>
            </a:solidFill>
            <a:prstDash val="solid"/>
          </a:ln>
        </p:spPr>
      </p:sp>
      <p:sp>
        <p:nvSpPr>
          <p:cNvPr id="20" name="Text 18"/>
          <p:cNvSpPr/>
          <p:nvPr/>
        </p:nvSpPr>
        <p:spPr>
          <a:xfrm>
            <a:off x="7452360" y="2514600"/>
            <a:ext cx="3657600" cy="274320"/>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Welcome to Grace Chapel</a:t>
            </a:r>
            <a:endParaRPr lang="en-US" sz="1500" dirty="0"/>
          </a:p>
        </p:txBody>
      </p:sp>
      <p:sp>
        <p:nvSpPr>
          <p:cNvPr id="21" name="Text 19"/>
          <p:cNvSpPr/>
          <p:nvPr/>
        </p:nvSpPr>
        <p:spPr>
          <a:xfrm>
            <a:off x="7452360" y="2834640"/>
            <a:ext cx="3657600" cy="457200"/>
          </a:xfrm>
          <a:prstGeom prst="rect">
            <a:avLst/>
          </a:prstGeom>
          <a:noFill/>
          <a:ln/>
        </p:spPr>
        <p:txBody>
          <a:bodyPr wrap="square" lIns="0" tIns="0" rIns="0" bIns="0" rtlCol="0" anchor="ctr"/>
          <a:lstStyle/>
          <a:p>
            <a:pPr indent="0" marL="0">
              <a:buNone/>
            </a:pPr>
            <a:r>
              <a:rPr lang="en-US" sz="1200" dirty="0">
                <a:solidFill>
                  <a:srgbClr val="7A6E60"/>
                </a:solidFill>
                <a:latin typeface="Calibri" pitchFamily="34" charset="0"/>
                <a:ea typeface="Calibri" pitchFamily="34" charset="-122"/>
                <a:cs typeface="Calibri" pitchFamily="34" charset="-120"/>
              </a:rPr>
              <a:t>Hi Abena, we are so glad you joined us today…</a:t>
            </a:r>
            <a:endParaRPr lang="en-US" sz="1200" dirty="0"/>
          </a:p>
        </p:txBody>
      </p:sp>
      <p:sp>
        <p:nvSpPr>
          <p:cNvPr id="22" name="Text 20"/>
          <p:cNvSpPr/>
          <p:nvPr/>
        </p:nvSpPr>
        <p:spPr>
          <a:xfrm>
            <a:off x="7269480" y="3703320"/>
            <a:ext cx="3657600" cy="274320"/>
          </a:xfrm>
          <a:prstGeom prst="rect">
            <a:avLst/>
          </a:prstGeom>
          <a:noFill/>
          <a:ln/>
        </p:spPr>
        <p:txBody>
          <a:bodyPr wrap="square" lIns="0" tIns="0" rIns="0" bIns="0" rtlCol="0" anchor="ctr"/>
          <a:lstStyle/>
          <a:p>
            <a:pPr indent="0" marL="0">
              <a:buNone/>
            </a:pPr>
            <a:r>
              <a:rPr lang="en-US" sz="1050" b="1" spc="200" kern="0" dirty="0">
                <a:solidFill>
                  <a:srgbClr val="A89D8E"/>
                </a:solidFill>
                <a:latin typeface="Calibri" pitchFamily="34" charset="0"/>
                <a:ea typeface="Calibri" pitchFamily="34" charset="-122"/>
                <a:cs typeface="Calibri" pitchFamily="34" charset="-120"/>
              </a:rPr>
              <a:t>SENT AUTOMATICALLY</a:t>
            </a:r>
            <a:endParaRPr lang="en-US" sz="1050" dirty="0"/>
          </a:p>
        </p:txBody>
      </p:sp>
      <p:sp>
        <p:nvSpPr>
          <p:cNvPr id="23" name="Shape 21"/>
          <p:cNvSpPr/>
          <p:nvPr/>
        </p:nvSpPr>
        <p:spPr>
          <a:xfrm>
            <a:off x="7269480" y="4151376"/>
            <a:ext cx="146304" cy="146304"/>
          </a:xfrm>
          <a:prstGeom prst="ellipse">
            <a:avLst/>
          </a:prstGeom>
          <a:solidFill>
            <a:srgbClr val="C97B1A"/>
          </a:solidFill>
          <a:ln w="12700">
            <a:solidFill>
              <a:srgbClr val="C97B1A"/>
            </a:solidFill>
            <a:prstDash val="solid"/>
          </a:ln>
        </p:spPr>
      </p:sp>
      <p:sp>
        <p:nvSpPr>
          <p:cNvPr id="24" name="Text 22"/>
          <p:cNvSpPr/>
          <p:nvPr/>
        </p:nvSpPr>
        <p:spPr>
          <a:xfrm>
            <a:off x="7571232" y="4069080"/>
            <a:ext cx="2103120" cy="274320"/>
          </a:xfrm>
          <a:prstGeom prst="rect">
            <a:avLst/>
          </a:prstGeom>
          <a:noFill/>
          <a:ln/>
        </p:spPr>
        <p:txBody>
          <a:bodyPr wrap="square" lIns="0" tIns="0" rIns="0" bIns="0" rtlCol="0" anchor="ctr"/>
          <a:lstStyle/>
          <a:p>
            <a:pPr indent="0" marL="0">
              <a:buNone/>
            </a:pPr>
            <a:r>
              <a:rPr lang="en-US" sz="1250" b="1" dirty="0">
                <a:solidFill>
                  <a:srgbClr val="16243A"/>
                </a:solidFill>
                <a:latin typeface="Calibri" pitchFamily="34" charset="0"/>
                <a:ea typeface="Calibri" pitchFamily="34" charset="-122"/>
                <a:cs typeface="Calibri" pitchFamily="34" charset="-120"/>
              </a:rPr>
              <a:t>Welcome email</a:t>
            </a:r>
            <a:endParaRPr lang="en-US" sz="1250" dirty="0"/>
          </a:p>
        </p:txBody>
      </p:sp>
      <p:sp>
        <p:nvSpPr>
          <p:cNvPr id="25" name="Text 23"/>
          <p:cNvSpPr/>
          <p:nvPr/>
        </p:nvSpPr>
        <p:spPr>
          <a:xfrm>
            <a:off x="7571232" y="4325112"/>
            <a:ext cx="3291840" cy="237744"/>
          </a:xfrm>
          <a:prstGeom prst="rect">
            <a:avLst/>
          </a:prstGeom>
          <a:noFill/>
          <a:ln/>
        </p:spPr>
        <p:txBody>
          <a:bodyPr wrap="square" lIns="0" tIns="0" rIns="0" bIns="0" rtlCol="0" anchor="ctr"/>
          <a:lstStyle/>
          <a:p>
            <a:pPr indent="0" marL="0">
              <a:buNone/>
            </a:pPr>
            <a:r>
              <a:rPr lang="en-US" sz="1100" dirty="0">
                <a:solidFill>
                  <a:srgbClr val="7A6E60"/>
                </a:solidFill>
                <a:latin typeface="Calibri" pitchFamily="34" charset="0"/>
                <a:ea typeface="Calibri" pitchFamily="34" charset="-122"/>
                <a:cs typeface="Calibri" pitchFamily="34" charset="-120"/>
              </a:rPr>
              <a:t>after a first visit</a:t>
            </a:r>
            <a:endParaRPr lang="en-US" sz="1100" dirty="0"/>
          </a:p>
        </p:txBody>
      </p:sp>
      <p:sp>
        <p:nvSpPr>
          <p:cNvPr id="26" name="Shape 24"/>
          <p:cNvSpPr/>
          <p:nvPr/>
        </p:nvSpPr>
        <p:spPr>
          <a:xfrm>
            <a:off x="7269480" y="4718304"/>
            <a:ext cx="146304" cy="146304"/>
          </a:xfrm>
          <a:prstGeom prst="ellipse">
            <a:avLst/>
          </a:prstGeom>
          <a:solidFill>
            <a:srgbClr val="C97B1A"/>
          </a:solidFill>
          <a:ln w="12700">
            <a:solidFill>
              <a:srgbClr val="C97B1A"/>
            </a:solidFill>
            <a:prstDash val="solid"/>
          </a:ln>
        </p:spPr>
      </p:sp>
      <p:sp>
        <p:nvSpPr>
          <p:cNvPr id="27" name="Text 25"/>
          <p:cNvSpPr/>
          <p:nvPr/>
        </p:nvSpPr>
        <p:spPr>
          <a:xfrm>
            <a:off x="7571232" y="4636008"/>
            <a:ext cx="2103120" cy="274320"/>
          </a:xfrm>
          <a:prstGeom prst="rect">
            <a:avLst/>
          </a:prstGeom>
          <a:noFill/>
          <a:ln/>
        </p:spPr>
        <p:txBody>
          <a:bodyPr wrap="square" lIns="0" tIns="0" rIns="0" bIns="0" rtlCol="0" anchor="ctr"/>
          <a:lstStyle/>
          <a:p>
            <a:pPr indent="0" marL="0">
              <a:buNone/>
            </a:pPr>
            <a:r>
              <a:rPr lang="en-US" sz="1250" b="1" dirty="0">
                <a:solidFill>
                  <a:srgbClr val="16243A"/>
                </a:solidFill>
                <a:latin typeface="Calibri" pitchFamily="34" charset="0"/>
                <a:ea typeface="Calibri" pitchFamily="34" charset="-122"/>
                <a:cs typeface="Calibri" pitchFamily="34" charset="-120"/>
              </a:rPr>
              <a:t>Birthday email</a:t>
            </a:r>
            <a:endParaRPr lang="en-US" sz="1250" dirty="0"/>
          </a:p>
        </p:txBody>
      </p:sp>
      <p:sp>
        <p:nvSpPr>
          <p:cNvPr id="28" name="Text 26"/>
          <p:cNvSpPr/>
          <p:nvPr/>
        </p:nvSpPr>
        <p:spPr>
          <a:xfrm>
            <a:off x="7571232" y="4892040"/>
            <a:ext cx="3291840" cy="237744"/>
          </a:xfrm>
          <a:prstGeom prst="rect">
            <a:avLst/>
          </a:prstGeom>
          <a:noFill/>
          <a:ln/>
        </p:spPr>
        <p:txBody>
          <a:bodyPr wrap="square" lIns="0" tIns="0" rIns="0" bIns="0" rtlCol="0" anchor="ctr"/>
          <a:lstStyle/>
          <a:p>
            <a:pPr indent="0" marL="0">
              <a:buNone/>
            </a:pPr>
            <a:r>
              <a:rPr lang="en-US" sz="1100" dirty="0">
                <a:solidFill>
                  <a:srgbClr val="7A6E60"/>
                </a:solidFill>
                <a:latin typeface="Calibri" pitchFamily="34" charset="0"/>
                <a:ea typeface="Calibri" pitchFamily="34" charset="-122"/>
                <a:cs typeface="Calibri" pitchFamily="34" charset="-120"/>
              </a:rPr>
              <a:t>on the day, every year</a:t>
            </a:r>
            <a:endParaRPr lang="en-US" sz="1100" dirty="0"/>
          </a:p>
        </p:txBody>
      </p:sp>
      <p:sp>
        <p:nvSpPr>
          <p:cNvPr id="29" name="Shape 27"/>
          <p:cNvSpPr/>
          <p:nvPr/>
        </p:nvSpPr>
        <p:spPr>
          <a:xfrm>
            <a:off x="7269480" y="5285232"/>
            <a:ext cx="146304" cy="146304"/>
          </a:xfrm>
          <a:prstGeom prst="ellipse">
            <a:avLst/>
          </a:prstGeom>
          <a:solidFill>
            <a:srgbClr val="C97B1A"/>
          </a:solidFill>
          <a:ln w="12700">
            <a:solidFill>
              <a:srgbClr val="C97B1A"/>
            </a:solidFill>
            <a:prstDash val="solid"/>
          </a:ln>
        </p:spPr>
      </p:sp>
      <p:sp>
        <p:nvSpPr>
          <p:cNvPr id="30" name="Text 28"/>
          <p:cNvSpPr/>
          <p:nvPr/>
        </p:nvSpPr>
        <p:spPr>
          <a:xfrm>
            <a:off x="7571232" y="5202936"/>
            <a:ext cx="2103120" cy="274320"/>
          </a:xfrm>
          <a:prstGeom prst="rect">
            <a:avLst/>
          </a:prstGeom>
          <a:noFill/>
          <a:ln/>
        </p:spPr>
        <p:txBody>
          <a:bodyPr wrap="square" lIns="0" tIns="0" rIns="0" bIns="0" rtlCol="0" anchor="ctr"/>
          <a:lstStyle/>
          <a:p>
            <a:pPr indent="0" marL="0">
              <a:buNone/>
            </a:pPr>
            <a:r>
              <a:rPr lang="en-US" sz="1250" b="1" dirty="0">
                <a:solidFill>
                  <a:srgbClr val="16243A"/>
                </a:solidFill>
                <a:latin typeface="Calibri" pitchFamily="34" charset="0"/>
                <a:ea typeface="Calibri" pitchFamily="34" charset="-122"/>
                <a:cs typeface="Calibri" pitchFamily="34" charset="-120"/>
              </a:rPr>
              <a:t>We-miss-you note</a:t>
            </a:r>
            <a:endParaRPr lang="en-US" sz="1250" dirty="0"/>
          </a:p>
        </p:txBody>
      </p:sp>
      <p:sp>
        <p:nvSpPr>
          <p:cNvPr id="31" name="Text 29"/>
          <p:cNvSpPr/>
          <p:nvPr/>
        </p:nvSpPr>
        <p:spPr>
          <a:xfrm>
            <a:off x="7571232" y="5458968"/>
            <a:ext cx="3291840" cy="237744"/>
          </a:xfrm>
          <a:prstGeom prst="rect">
            <a:avLst/>
          </a:prstGeom>
          <a:noFill/>
          <a:ln/>
        </p:spPr>
        <p:txBody>
          <a:bodyPr wrap="square" lIns="0" tIns="0" rIns="0" bIns="0" rtlCol="0" anchor="ctr"/>
          <a:lstStyle/>
          <a:p>
            <a:pPr indent="0" marL="0">
              <a:buNone/>
            </a:pPr>
            <a:r>
              <a:rPr lang="en-US" sz="1100" dirty="0">
                <a:solidFill>
                  <a:srgbClr val="7A6E60"/>
                </a:solidFill>
                <a:latin typeface="Calibri" pitchFamily="34" charset="0"/>
                <a:ea typeface="Calibri" pitchFamily="34" charset="-122"/>
                <a:cs typeface="Calibri" pitchFamily="34" charset="-120"/>
              </a:rPr>
              <a:t>after two missed weeks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300" b="1" dirty="0">
                <a:solidFill>
                  <a:srgbClr val="C97B1A"/>
                </a:solidFill>
                <a:latin typeface="Calibri" pitchFamily="34" charset="0"/>
                <a:ea typeface="Calibri" pitchFamily="34" charset="-122"/>
                <a:cs typeface="Calibri" pitchFamily="34" charset="-120"/>
              </a:rPr>
              <a:t>7</a:t>
            </a:r>
            <a:pPr indent="0" marL="0">
              <a:buNone/>
            </a:pPr>
            <a:r>
              <a:rPr lang="en-US" sz="1100" b="1" spc="200" kern="0" dirty="0">
                <a:solidFill>
                  <a:srgbClr val="A89D8E"/>
                </a:solidFill>
                <a:latin typeface="Calibri" pitchFamily="34" charset="0"/>
                <a:ea typeface="Calibri" pitchFamily="34" charset="-122"/>
                <a:cs typeface="Calibri" pitchFamily="34" charset="-120"/>
              </a:rPr>
              <a:t>   SETTINGS</a:t>
            </a:r>
            <a:endParaRPr lang="en-US" sz="1300" dirty="0"/>
          </a:p>
        </p:txBody>
      </p:sp>
      <p:sp>
        <p:nvSpPr>
          <p:cNvPr id="3" name="Text 1"/>
          <p:cNvSpPr/>
          <p:nvPr/>
        </p:nvSpPr>
        <p:spPr>
          <a:xfrm>
            <a:off x="640080" y="777240"/>
            <a:ext cx="7680960" cy="59436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Make It Yours</a:t>
            </a:r>
            <a:endParaRPr lang="en-US" sz="3400" dirty="0"/>
          </a:p>
        </p:txBody>
      </p:sp>
      <p:sp>
        <p:nvSpPr>
          <p:cNvPr id="4" name="Text 2"/>
          <p:cNvSpPr/>
          <p:nvPr/>
        </p:nvSpPr>
        <p:spPr>
          <a:xfrm>
            <a:off x="640080" y="1417320"/>
            <a:ext cx="6949440" cy="548640"/>
          </a:xfrm>
          <a:prstGeom prst="rect">
            <a:avLst/>
          </a:prstGeom>
          <a:noFill/>
          <a:ln/>
        </p:spPr>
        <p:txBody>
          <a:bodyPr wrap="square" lIns="0" tIns="0" rIns="0" bIns="0" rtlCol="0" anchor="ctr"/>
          <a:lstStyle/>
          <a:p>
            <a:pPr indent="0" marL="0">
              <a:buNone/>
            </a:pPr>
            <a:r>
              <a:rPr lang="en-US" sz="1400" dirty="0">
                <a:solidFill>
                  <a:srgbClr val="7A6E60"/>
                </a:solidFill>
                <a:latin typeface="Calibri" pitchFamily="34" charset="0"/>
                <a:ea typeface="Calibri" pitchFamily="34" charset="-122"/>
                <a:cs typeface="Calibri" pitchFamily="34" charset="-120"/>
              </a:rPr>
              <a:t>A few one-time settings and the whole experience — kiosk and emails — carries your church’s identity.</a:t>
            </a:r>
            <a:endParaRPr lang="en-US" sz="1400" dirty="0"/>
          </a:p>
        </p:txBody>
      </p:sp>
      <p:sp>
        <p:nvSpPr>
          <p:cNvPr id="5" name="Shape 3"/>
          <p:cNvSpPr/>
          <p:nvPr/>
        </p:nvSpPr>
        <p:spPr>
          <a:xfrm>
            <a:off x="640080" y="2304288"/>
            <a:ext cx="237744" cy="237744"/>
          </a:xfrm>
          <a:prstGeom prst="ellipse">
            <a:avLst/>
          </a:prstGeom>
          <a:solidFill>
            <a:srgbClr val="FDF3E0"/>
          </a:solidFill>
          <a:ln w="12700">
            <a:solidFill>
              <a:srgbClr val="FDF3E0"/>
            </a:solidFill>
            <a:prstDash val="solid"/>
          </a:ln>
        </p:spPr>
      </p:sp>
      <p:sp>
        <p:nvSpPr>
          <p:cNvPr id="6" name="Shape 4"/>
          <p:cNvSpPr/>
          <p:nvPr/>
        </p:nvSpPr>
        <p:spPr>
          <a:xfrm>
            <a:off x="722376" y="2386584"/>
            <a:ext cx="73152" cy="73152"/>
          </a:xfrm>
          <a:prstGeom prst="ellipse">
            <a:avLst/>
          </a:prstGeom>
          <a:solidFill>
            <a:srgbClr val="C97B1A"/>
          </a:solidFill>
          <a:ln w="12700">
            <a:solidFill>
              <a:srgbClr val="C97B1A"/>
            </a:solidFill>
            <a:prstDash val="solid"/>
          </a:ln>
        </p:spPr>
      </p:sp>
      <p:sp>
        <p:nvSpPr>
          <p:cNvPr id="7" name="Text 5"/>
          <p:cNvSpPr/>
          <p:nvPr/>
        </p:nvSpPr>
        <p:spPr>
          <a:xfrm>
            <a:off x="1051560" y="224028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Your branding</a:t>
            </a:r>
            <a:endParaRPr lang="en-US" sz="1500" dirty="0"/>
          </a:p>
        </p:txBody>
      </p:sp>
      <p:sp>
        <p:nvSpPr>
          <p:cNvPr id="8" name="Text 6"/>
          <p:cNvSpPr/>
          <p:nvPr/>
        </p:nvSpPr>
        <p:spPr>
          <a:xfrm>
            <a:off x="1051560" y="255117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Logo, colour, and the welcome message on the kiosk screen.</a:t>
            </a:r>
            <a:endParaRPr lang="en-US" sz="1250" dirty="0"/>
          </a:p>
        </p:txBody>
      </p:sp>
      <p:sp>
        <p:nvSpPr>
          <p:cNvPr id="9" name="Shape 7"/>
          <p:cNvSpPr/>
          <p:nvPr/>
        </p:nvSpPr>
        <p:spPr>
          <a:xfrm>
            <a:off x="640080" y="3355848"/>
            <a:ext cx="237744" cy="237744"/>
          </a:xfrm>
          <a:prstGeom prst="ellipse">
            <a:avLst/>
          </a:prstGeom>
          <a:solidFill>
            <a:srgbClr val="FDF3E0"/>
          </a:solidFill>
          <a:ln w="12700">
            <a:solidFill>
              <a:srgbClr val="FDF3E0"/>
            </a:solidFill>
            <a:prstDash val="solid"/>
          </a:ln>
        </p:spPr>
      </p:sp>
      <p:sp>
        <p:nvSpPr>
          <p:cNvPr id="10" name="Shape 8"/>
          <p:cNvSpPr/>
          <p:nvPr/>
        </p:nvSpPr>
        <p:spPr>
          <a:xfrm>
            <a:off x="722376" y="3438144"/>
            <a:ext cx="73152" cy="73152"/>
          </a:xfrm>
          <a:prstGeom prst="ellipse">
            <a:avLst/>
          </a:prstGeom>
          <a:solidFill>
            <a:srgbClr val="C97B1A"/>
          </a:solidFill>
          <a:ln w="12700">
            <a:solidFill>
              <a:srgbClr val="C97B1A"/>
            </a:solidFill>
            <a:prstDash val="solid"/>
          </a:ln>
        </p:spPr>
      </p:sp>
      <p:sp>
        <p:nvSpPr>
          <p:cNvPr id="11" name="Text 9"/>
          <p:cNvSpPr/>
          <p:nvPr/>
        </p:nvSpPr>
        <p:spPr>
          <a:xfrm>
            <a:off x="1051560" y="329184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Your kiosk access code</a:t>
            </a:r>
            <a:endParaRPr lang="en-US" sz="1500" dirty="0"/>
          </a:p>
        </p:txBody>
      </p:sp>
      <p:sp>
        <p:nvSpPr>
          <p:cNvPr id="12" name="Text 10"/>
          <p:cNvSpPr/>
          <p:nvPr/>
        </p:nvSpPr>
        <p:spPr>
          <a:xfrm>
            <a:off x="1051560" y="360273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You choose it, and change it any time a volunteer moves on.</a:t>
            </a:r>
            <a:endParaRPr lang="en-US" sz="1250" dirty="0"/>
          </a:p>
        </p:txBody>
      </p:sp>
      <p:sp>
        <p:nvSpPr>
          <p:cNvPr id="13" name="Shape 11"/>
          <p:cNvSpPr/>
          <p:nvPr/>
        </p:nvSpPr>
        <p:spPr>
          <a:xfrm>
            <a:off x="640080" y="4407408"/>
            <a:ext cx="237744" cy="237744"/>
          </a:xfrm>
          <a:prstGeom prst="ellipse">
            <a:avLst/>
          </a:prstGeom>
          <a:solidFill>
            <a:srgbClr val="FDF3E0"/>
          </a:solidFill>
          <a:ln w="12700">
            <a:solidFill>
              <a:srgbClr val="FDF3E0"/>
            </a:solidFill>
            <a:prstDash val="solid"/>
          </a:ln>
        </p:spPr>
      </p:sp>
      <p:sp>
        <p:nvSpPr>
          <p:cNvPr id="14" name="Shape 12"/>
          <p:cNvSpPr/>
          <p:nvPr/>
        </p:nvSpPr>
        <p:spPr>
          <a:xfrm>
            <a:off x="722376" y="4489704"/>
            <a:ext cx="73152" cy="73152"/>
          </a:xfrm>
          <a:prstGeom prst="ellipse">
            <a:avLst/>
          </a:prstGeom>
          <a:solidFill>
            <a:srgbClr val="C97B1A"/>
          </a:solidFill>
          <a:ln w="12700">
            <a:solidFill>
              <a:srgbClr val="C97B1A"/>
            </a:solidFill>
            <a:prstDash val="solid"/>
          </a:ln>
        </p:spPr>
      </p:sp>
      <p:sp>
        <p:nvSpPr>
          <p:cNvPr id="15" name="Text 13"/>
          <p:cNvSpPr/>
          <p:nvPr/>
        </p:nvSpPr>
        <p:spPr>
          <a:xfrm>
            <a:off x="1051560" y="434340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Your time zone</a:t>
            </a:r>
            <a:endParaRPr lang="en-US" sz="1500" dirty="0"/>
          </a:p>
        </p:txBody>
      </p:sp>
      <p:sp>
        <p:nvSpPr>
          <p:cNvPr id="16" name="Text 14"/>
          <p:cNvSpPr/>
          <p:nvPr/>
        </p:nvSpPr>
        <p:spPr>
          <a:xfrm>
            <a:off x="1051560" y="465429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Reports and birthday emails follow your clock, not a server’s.</a:t>
            </a:r>
            <a:endParaRPr lang="en-US" sz="1250" dirty="0"/>
          </a:p>
        </p:txBody>
      </p:sp>
      <p:sp>
        <p:nvSpPr>
          <p:cNvPr id="17" name="Shape 15"/>
          <p:cNvSpPr/>
          <p:nvPr/>
        </p:nvSpPr>
        <p:spPr>
          <a:xfrm>
            <a:off x="640080" y="5458968"/>
            <a:ext cx="237744" cy="237744"/>
          </a:xfrm>
          <a:prstGeom prst="ellipse">
            <a:avLst/>
          </a:prstGeom>
          <a:solidFill>
            <a:srgbClr val="FDF3E0"/>
          </a:solidFill>
          <a:ln w="12700">
            <a:solidFill>
              <a:srgbClr val="FDF3E0"/>
            </a:solidFill>
            <a:prstDash val="solid"/>
          </a:ln>
        </p:spPr>
      </p:sp>
      <p:sp>
        <p:nvSpPr>
          <p:cNvPr id="18" name="Shape 16"/>
          <p:cNvSpPr/>
          <p:nvPr/>
        </p:nvSpPr>
        <p:spPr>
          <a:xfrm>
            <a:off x="722376" y="5541264"/>
            <a:ext cx="73152" cy="73152"/>
          </a:xfrm>
          <a:prstGeom prst="ellipse">
            <a:avLst/>
          </a:prstGeom>
          <a:solidFill>
            <a:srgbClr val="C97B1A"/>
          </a:solidFill>
          <a:ln w="12700">
            <a:solidFill>
              <a:srgbClr val="C97B1A"/>
            </a:solidFill>
            <a:prstDash val="solid"/>
          </a:ln>
        </p:spPr>
      </p:sp>
      <p:sp>
        <p:nvSpPr>
          <p:cNvPr id="19" name="Text 17"/>
          <p:cNvSpPr/>
          <p:nvPr/>
        </p:nvSpPr>
        <p:spPr>
          <a:xfrm>
            <a:off x="1051560" y="5394960"/>
            <a:ext cx="5257800" cy="292608"/>
          </a:xfrm>
          <a:prstGeom prst="rect">
            <a:avLst/>
          </a:prstGeom>
          <a:noFill/>
          <a:ln/>
        </p:spPr>
        <p:txBody>
          <a:bodyPr wrap="square" lIns="0" tIns="0" rIns="0" bIns="0" rtlCol="0" anchor="ctr"/>
          <a:lstStyle/>
          <a:p>
            <a:pPr indent="0" marL="0">
              <a:buNone/>
            </a:pPr>
            <a:r>
              <a:rPr lang="en-US" sz="1500" b="1" dirty="0">
                <a:solidFill>
                  <a:srgbClr val="16243A"/>
                </a:solidFill>
                <a:latin typeface="Calibri" pitchFamily="34" charset="0"/>
                <a:ea typeface="Calibri" pitchFamily="34" charset="-122"/>
                <a:cs typeface="Calibri" pitchFamily="34" charset="-120"/>
              </a:rPr>
              <a:t>Contact details on every email</a:t>
            </a:r>
            <a:endParaRPr lang="en-US" sz="1500" dirty="0"/>
          </a:p>
        </p:txBody>
      </p:sp>
      <p:sp>
        <p:nvSpPr>
          <p:cNvPr id="20" name="Text 18"/>
          <p:cNvSpPr/>
          <p:nvPr/>
        </p:nvSpPr>
        <p:spPr>
          <a:xfrm>
            <a:off x="1051560" y="5705856"/>
            <a:ext cx="5257800" cy="457200"/>
          </a:xfrm>
          <a:prstGeom prst="rect">
            <a:avLst/>
          </a:prstGeom>
          <a:noFill/>
          <a:ln/>
        </p:spPr>
        <p:txBody>
          <a:bodyPr wrap="square" lIns="0" tIns="0" rIns="0" bIns="0" rtlCol="0" anchor="ctr"/>
          <a:lstStyle/>
          <a:p>
            <a:pPr indent="0" marL="0">
              <a:buNone/>
            </a:pPr>
            <a:r>
              <a:rPr lang="en-US" sz="1250" dirty="0">
                <a:solidFill>
                  <a:srgbClr val="7A6E60"/>
                </a:solidFill>
                <a:latin typeface="Calibri" pitchFamily="34" charset="0"/>
                <a:ea typeface="Calibri" pitchFamily="34" charset="-122"/>
                <a:cs typeface="Calibri" pitchFamily="34" charset="-120"/>
              </a:rPr>
              <a:t>Address and phone appear in the footer automatically.</a:t>
            </a:r>
            <a:endParaRPr lang="en-US" sz="1250" dirty="0"/>
          </a:p>
        </p:txBody>
      </p:sp>
      <p:sp>
        <p:nvSpPr>
          <p:cNvPr id="21" name="Shape 19"/>
          <p:cNvSpPr/>
          <p:nvPr/>
        </p:nvSpPr>
        <p:spPr>
          <a:xfrm>
            <a:off x="6858000" y="1965960"/>
            <a:ext cx="4663440" cy="3931920"/>
          </a:xfrm>
          <a:prstGeom prst="roundRect">
            <a:avLst>
              <a:gd name="adj" fmla="val 2791"/>
            </a:avLst>
          </a:prstGeom>
          <a:solidFill>
            <a:srgbClr val="16243A"/>
          </a:solidFill>
          <a:ln w="12700">
            <a:solidFill>
              <a:srgbClr val="16243A"/>
            </a:solidFill>
            <a:prstDash val="solid"/>
          </a:ln>
          <a:effectLst>
            <a:outerShdw sx="100000" sy="100000" kx="0" ky="0" algn="bl" rotWithShape="0" blurRad="279400" dist="76200" dir="5400000">
              <a:srgbClr val="000000">
                <a:alpha val="22000"/>
              </a:srgbClr>
            </a:outerShdw>
          </a:effectLst>
        </p:spPr>
      </p:sp>
      <p:sp>
        <p:nvSpPr>
          <p:cNvPr id="22" name="Text 20"/>
          <p:cNvSpPr/>
          <p:nvPr/>
        </p:nvSpPr>
        <p:spPr>
          <a:xfrm>
            <a:off x="7269480" y="2331720"/>
            <a:ext cx="2743200" cy="274320"/>
          </a:xfrm>
          <a:prstGeom prst="rect">
            <a:avLst/>
          </a:prstGeom>
          <a:noFill/>
          <a:ln/>
        </p:spPr>
        <p:txBody>
          <a:bodyPr wrap="square" lIns="0" tIns="0" rIns="0" bIns="0" rtlCol="0" anchor="ctr"/>
          <a:lstStyle/>
          <a:p>
            <a:pPr indent="0" marL="0">
              <a:buNone/>
            </a:pPr>
            <a:r>
              <a:rPr lang="en-US" sz="1050" b="1" spc="200" kern="0" dirty="0">
                <a:solidFill>
                  <a:srgbClr val="7E8B9E"/>
                </a:solidFill>
                <a:latin typeface="Calibri" pitchFamily="34" charset="0"/>
                <a:ea typeface="Calibri" pitchFamily="34" charset="-122"/>
                <a:cs typeface="Calibri" pitchFamily="34" charset="-120"/>
              </a:rPr>
              <a:t>KIOSK PREVIEW</a:t>
            </a:r>
            <a:endParaRPr lang="en-US" sz="1050" dirty="0"/>
          </a:p>
        </p:txBody>
      </p:sp>
      <p:sp>
        <p:nvSpPr>
          <p:cNvPr id="23" name="Shape 21"/>
          <p:cNvSpPr/>
          <p:nvPr/>
        </p:nvSpPr>
        <p:spPr>
          <a:xfrm>
            <a:off x="7269480" y="2743200"/>
            <a:ext cx="3840480" cy="1554480"/>
          </a:xfrm>
          <a:prstGeom prst="roundRect">
            <a:avLst>
              <a:gd name="adj" fmla="val 5882"/>
            </a:avLst>
          </a:prstGeom>
          <a:solidFill>
            <a:srgbClr val="0B1420"/>
          </a:solidFill>
          <a:ln w="12700">
            <a:solidFill>
              <a:srgbClr val="2C3B52"/>
            </a:solidFill>
            <a:prstDash val="solid"/>
          </a:ln>
        </p:spPr>
      </p:sp>
      <p:sp>
        <p:nvSpPr>
          <p:cNvPr id="24" name="Text 22"/>
          <p:cNvSpPr/>
          <p:nvPr/>
        </p:nvSpPr>
        <p:spPr>
          <a:xfrm>
            <a:off x="7452360" y="3108960"/>
            <a:ext cx="347472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Welcome to Grace Chapel</a:t>
            </a:r>
            <a:endParaRPr lang="en-US" sz="1800" dirty="0"/>
          </a:p>
        </p:txBody>
      </p:sp>
      <p:sp>
        <p:nvSpPr>
          <p:cNvPr id="25" name="Text 23"/>
          <p:cNvSpPr/>
          <p:nvPr/>
        </p:nvSpPr>
        <p:spPr>
          <a:xfrm>
            <a:off x="7452360" y="3502152"/>
            <a:ext cx="3474720" cy="274320"/>
          </a:xfrm>
          <a:prstGeom prst="rect">
            <a:avLst/>
          </a:prstGeom>
          <a:noFill/>
          <a:ln/>
        </p:spPr>
        <p:txBody>
          <a:bodyPr wrap="square" lIns="0" tIns="0" rIns="0" bIns="0" rtlCol="0" anchor="ctr"/>
          <a:lstStyle/>
          <a:p>
            <a:pPr algn="ctr" indent="0" marL="0">
              <a:buNone/>
            </a:pPr>
            <a:r>
              <a:rPr lang="en-US" sz="1200" dirty="0">
                <a:solidFill>
                  <a:srgbClr val="7E8B9E"/>
                </a:solidFill>
                <a:latin typeface="Calibri" pitchFamily="34" charset="0"/>
                <a:ea typeface="Calibri" pitchFamily="34" charset="-122"/>
                <a:cs typeface="Calibri" pitchFamily="34" charset="-120"/>
              </a:rPr>
              <a:t>We are glad you are here</a:t>
            </a:r>
            <a:endParaRPr lang="en-US" sz="1200" dirty="0"/>
          </a:p>
        </p:txBody>
      </p:sp>
      <p:sp>
        <p:nvSpPr>
          <p:cNvPr id="26" name="Text 24"/>
          <p:cNvSpPr/>
          <p:nvPr/>
        </p:nvSpPr>
        <p:spPr>
          <a:xfrm>
            <a:off x="7269480" y="4572000"/>
            <a:ext cx="2743200" cy="274320"/>
          </a:xfrm>
          <a:prstGeom prst="rect">
            <a:avLst/>
          </a:prstGeom>
          <a:noFill/>
          <a:ln/>
        </p:spPr>
        <p:txBody>
          <a:bodyPr wrap="square" lIns="0" tIns="0" rIns="0" bIns="0" rtlCol="0" anchor="ctr"/>
          <a:lstStyle/>
          <a:p>
            <a:pPr indent="0" marL="0">
              <a:buNone/>
            </a:pPr>
            <a:r>
              <a:rPr lang="en-US" sz="1050" b="1" spc="200" kern="0" dirty="0">
                <a:solidFill>
                  <a:srgbClr val="7E8B9E"/>
                </a:solidFill>
                <a:latin typeface="Calibri" pitchFamily="34" charset="0"/>
                <a:ea typeface="Calibri" pitchFamily="34" charset="-122"/>
                <a:cs typeface="Calibri" pitchFamily="34" charset="-120"/>
              </a:rPr>
              <a:t>KIOSK CODE</a:t>
            </a:r>
            <a:endParaRPr lang="en-US" sz="1050" dirty="0"/>
          </a:p>
        </p:txBody>
      </p:sp>
      <p:sp>
        <p:nvSpPr>
          <p:cNvPr id="27" name="Shape 25"/>
          <p:cNvSpPr/>
          <p:nvPr/>
        </p:nvSpPr>
        <p:spPr>
          <a:xfrm>
            <a:off x="7269480" y="4892040"/>
            <a:ext cx="1920240" cy="548640"/>
          </a:xfrm>
          <a:prstGeom prst="roundRect">
            <a:avLst>
              <a:gd name="adj" fmla="val 13333"/>
            </a:avLst>
          </a:prstGeom>
          <a:solidFill>
            <a:srgbClr val="C97B1A"/>
          </a:solidFill>
          <a:ln w="12700">
            <a:solidFill>
              <a:srgbClr val="C97B1A"/>
            </a:solidFill>
            <a:prstDash val="solid"/>
          </a:ln>
        </p:spPr>
      </p:sp>
      <p:sp>
        <p:nvSpPr>
          <p:cNvPr id="28" name="Text 26"/>
          <p:cNvSpPr/>
          <p:nvPr/>
        </p:nvSpPr>
        <p:spPr>
          <a:xfrm>
            <a:off x="7269480" y="5001768"/>
            <a:ext cx="1920240" cy="365760"/>
          </a:xfrm>
          <a:prstGeom prst="rect">
            <a:avLst/>
          </a:prstGeom>
          <a:noFill/>
          <a:ln/>
        </p:spPr>
        <p:txBody>
          <a:bodyPr wrap="square" lIns="0" tIns="0" rIns="0" bIns="0" rtlCol="0" anchor="ctr"/>
          <a:lstStyle/>
          <a:p>
            <a:pPr algn="ctr" indent="0" marL="0">
              <a:buNone/>
            </a:pPr>
            <a:r>
              <a:rPr lang="en-US" sz="1700" b="1" spc="200" kern="0" dirty="0">
                <a:solidFill>
                  <a:srgbClr val="FFFFFF"/>
                </a:solidFill>
                <a:latin typeface="Calibri" pitchFamily="34" charset="0"/>
                <a:ea typeface="Calibri" pitchFamily="34" charset="-122"/>
                <a:cs typeface="Calibri" pitchFamily="34" charset="-120"/>
              </a:rPr>
              <a:t>GRACE24</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4EE"/>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200" kern="0" dirty="0">
                <a:solidFill>
                  <a:srgbClr val="C97B1A"/>
                </a:solidFill>
                <a:latin typeface="Calibri" pitchFamily="34" charset="0"/>
                <a:ea typeface="Calibri" pitchFamily="34" charset="-122"/>
                <a:cs typeface="Calibri" pitchFamily="34" charset="-120"/>
              </a:rPr>
              <a:t>PRICING</a:t>
            </a:r>
            <a:endParaRPr lang="en-US" sz="11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One price. Everything included.</a:t>
            </a:r>
            <a:endParaRPr lang="en-US" sz="3400" dirty="0"/>
          </a:p>
        </p:txBody>
      </p:sp>
      <p:sp>
        <p:nvSpPr>
          <p:cNvPr id="4" name="Text 2"/>
          <p:cNvSpPr/>
          <p:nvPr/>
        </p:nvSpPr>
        <p:spPr>
          <a:xfrm>
            <a:off x="640080" y="1463040"/>
            <a:ext cx="8229600" cy="365760"/>
          </a:xfrm>
          <a:prstGeom prst="rect">
            <a:avLst/>
          </a:prstGeom>
          <a:noFill/>
          <a:ln/>
        </p:spPr>
        <p:txBody>
          <a:bodyPr wrap="square" lIns="0" tIns="0" rIns="0" bIns="0" rtlCol="0" anchor="ctr"/>
          <a:lstStyle/>
          <a:p>
            <a:pPr indent="0" marL="0">
              <a:buNone/>
            </a:pPr>
            <a:r>
              <a:rPr lang="en-US" sz="1400" dirty="0">
                <a:solidFill>
                  <a:srgbClr val="7A6E60"/>
                </a:solidFill>
                <a:latin typeface="Calibri" pitchFamily="34" charset="0"/>
                <a:ea typeface="Calibri" pitchFamily="34" charset="-122"/>
                <a:cs typeface="Calibri" pitchFamily="34" charset="-120"/>
              </a:rPr>
              <a:t>No tiers, no per-member charges, no feature held back for a bigger plan.</a:t>
            </a:r>
            <a:endParaRPr lang="en-US" sz="1400" dirty="0"/>
          </a:p>
        </p:txBody>
      </p:sp>
      <p:sp>
        <p:nvSpPr>
          <p:cNvPr id="5" name="Shape 3"/>
          <p:cNvSpPr/>
          <p:nvPr/>
        </p:nvSpPr>
        <p:spPr>
          <a:xfrm>
            <a:off x="640080" y="2148840"/>
            <a:ext cx="3566160" cy="2286000"/>
          </a:xfrm>
          <a:prstGeom prst="roundRect">
            <a:avLst>
              <a:gd name="adj" fmla="val 4000"/>
            </a:avLst>
          </a:prstGeom>
          <a:solidFill>
            <a:srgbClr val="FFFFFF"/>
          </a:solidFill>
          <a:ln w="12700">
            <a:solidFill>
              <a:srgbClr val="E4DFD5"/>
            </a:solidFill>
            <a:prstDash val="solid"/>
          </a:ln>
        </p:spPr>
      </p:sp>
      <p:sp>
        <p:nvSpPr>
          <p:cNvPr id="6" name="Text 4"/>
          <p:cNvSpPr/>
          <p:nvPr/>
        </p:nvSpPr>
        <p:spPr>
          <a:xfrm>
            <a:off x="960120" y="2468880"/>
            <a:ext cx="2926080" cy="274320"/>
          </a:xfrm>
          <a:prstGeom prst="rect">
            <a:avLst/>
          </a:prstGeom>
          <a:noFill/>
          <a:ln/>
        </p:spPr>
        <p:txBody>
          <a:bodyPr wrap="square" lIns="0" tIns="0" rIns="0" bIns="0" rtlCol="0" anchor="ctr"/>
          <a:lstStyle/>
          <a:p>
            <a:pPr indent="0" marL="0">
              <a:buNone/>
            </a:pPr>
            <a:r>
              <a:rPr lang="en-US" sz="1050" b="1" spc="200" kern="0" dirty="0">
                <a:solidFill>
                  <a:srgbClr val="A89D8E"/>
                </a:solidFill>
                <a:latin typeface="Calibri" pitchFamily="34" charset="0"/>
                <a:ea typeface="Calibri" pitchFamily="34" charset="-122"/>
                <a:cs typeface="Calibri" pitchFamily="34" charset="-120"/>
              </a:rPr>
              <a:t>MONTHLY</a:t>
            </a:r>
            <a:endParaRPr lang="en-US" sz="1050" dirty="0"/>
          </a:p>
        </p:txBody>
      </p:sp>
      <p:sp>
        <p:nvSpPr>
          <p:cNvPr id="7" name="Text 5"/>
          <p:cNvSpPr/>
          <p:nvPr/>
        </p:nvSpPr>
        <p:spPr>
          <a:xfrm>
            <a:off x="960120" y="2834640"/>
            <a:ext cx="2926080" cy="640080"/>
          </a:xfrm>
          <a:prstGeom prst="rect">
            <a:avLst/>
          </a:prstGeom>
          <a:noFill/>
          <a:ln/>
        </p:spPr>
        <p:txBody>
          <a:bodyPr wrap="square" lIns="0" tIns="0" rIns="0" bIns="0" rtlCol="0" anchor="ctr"/>
          <a:lstStyle/>
          <a:p>
            <a:pPr indent="0" marL="0">
              <a:buNone/>
            </a:pPr>
            <a:r>
              <a:rPr lang="en-US" sz="3800" b="1" dirty="0">
                <a:solidFill>
                  <a:srgbClr val="16243A"/>
                </a:solidFill>
                <a:latin typeface="Cambria" pitchFamily="34" charset="0"/>
                <a:ea typeface="Cambria" pitchFamily="34" charset="-122"/>
                <a:cs typeface="Cambria" pitchFamily="34" charset="-120"/>
              </a:rPr>
              <a:t>GHS 150</a:t>
            </a:r>
            <a:endParaRPr lang="en-US" sz="3800" dirty="0"/>
          </a:p>
        </p:txBody>
      </p:sp>
      <p:sp>
        <p:nvSpPr>
          <p:cNvPr id="8" name="Text 6"/>
          <p:cNvSpPr/>
          <p:nvPr/>
        </p:nvSpPr>
        <p:spPr>
          <a:xfrm>
            <a:off x="960120" y="3520440"/>
            <a:ext cx="2926080" cy="274320"/>
          </a:xfrm>
          <a:prstGeom prst="rect">
            <a:avLst/>
          </a:prstGeom>
          <a:noFill/>
          <a:ln/>
        </p:spPr>
        <p:txBody>
          <a:bodyPr wrap="square" lIns="0" tIns="0" rIns="0" bIns="0" rtlCol="0" anchor="ctr"/>
          <a:lstStyle/>
          <a:p>
            <a:pPr indent="0" marL="0">
              <a:buNone/>
            </a:pPr>
            <a:r>
              <a:rPr lang="en-US" sz="1300" dirty="0">
                <a:solidFill>
                  <a:srgbClr val="7A6E60"/>
                </a:solidFill>
                <a:latin typeface="Calibri" pitchFamily="34" charset="0"/>
                <a:ea typeface="Calibri" pitchFamily="34" charset="-122"/>
                <a:cs typeface="Calibri" pitchFamily="34" charset="-120"/>
              </a:rPr>
              <a:t>per month</a:t>
            </a:r>
            <a:endParaRPr lang="en-US" sz="1300" dirty="0"/>
          </a:p>
        </p:txBody>
      </p:sp>
      <p:sp>
        <p:nvSpPr>
          <p:cNvPr id="9" name="Text 7"/>
          <p:cNvSpPr/>
          <p:nvPr/>
        </p:nvSpPr>
        <p:spPr>
          <a:xfrm>
            <a:off x="960120" y="3840480"/>
            <a:ext cx="2926080" cy="274320"/>
          </a:xfrm>
          <a:prstGeom prst="rect">
            <a:avLst/>
          </a:prstGeom>
          <a:noFill/>
          <a:ln/>
        </p:spPr>
        <p:txBody>
          <a:bodyPr wrap="square" lIns="0" tIns="0" rIns="0" bIns="0" rtlCol="0" anchor="ctr"/>
          <a:lstStyle/>
          <a:p>
            <a:pPr indent="0" marL="0">
              <a:buNone/>
            </a:pPr>
            <a:r>
              <a:rPr lang="en-US" sz="1200" dirty="0">
                <a:solidFill>
                  <a:srgbClr val="A89D8E"/>
                </a:solidFill>
                <a:latin typeface="Calibri" pitchFamily="34" charset="0"/>
                <a:ea typeface="Calibri" pitchFamily="34" charset="-122"/>
                <a:cs typeface="Calibri" pitchFamily="34" charset="-120"/>
              </a:rPr>
              <a:t>Cancel any time.</a:t>
            </a:r>
            <a:endParaRPr lang="en-US" sz="1200" dirty="0"/>
          </a:p>
        </p:txBody>
      </p:sp>
      <p:sp>
        <p:nvSpPr>
          <p:cNvPr id="10" name="Shape 8"/>
          <p:cNvSpPr/>
          <p:nvPr/>
        </p:nvSpPr>
        <p:spPr>
          <a:xfrm>
            <a:off x="4526280" y="2148840"/>
            <a:ext cx="3566160" cy="2286000"/>
          </a:xfrm>
          <a:prstGeom prst="roundRect">
            <a:avLst>
              <a:gd name="adj" fmla="val 4000"/>
            </a:avLst>
          </a:prstGeom>
          <a:solidFill>
            <a:srgbClr val="FFFFFF"/>
          </a:solidFill>
          <a:ln w="25400">
            <a:solidFill>
              <a:srgbClr val="C97B1A"/>
            </a:solidFill>
            <a:prstDash val="solid"/>
          </a:ln>
          <a:effectLst>
            <a:outerShdw sx="100000" sy="100000" kx="0" ky="0" algn="bl" rotWithShape="0" blurRad="228600" dist="63500" dir="5400000">
              <a:srgbClr val="C97B1A">
                <a:alpha val="18000"/>
              </a:srgbClr>
            </a:outerShdw>
          </a:effectLst>
        </p:spPr>
      </p:sp>
      <p:sp>
        <p:nvSpPr>
          <p:cNvPr id="11" name="Shape 9"/>
          <p:cNvSpPr/>
          <p:nvPr/>
        </p:nvSpPr>
        <p:spPr>
          <a:xfrm>
            <a:off x="5440680" y="1975104"/>
            <a:ext cx="1737360" cy="347472"/>
          </a:xfrm>
          <a:prstGeom prst="roundRect">
            <a:avLst>
              <a:gd name="adj" fmla="val 50000"/>
            </a:avLst>
          </a:prstGeom>
          <a:solidFill>
            <a:srgbClr val="C97B1A"/>
          </a:solidFill>
          <a:ln w="12700">
            <a:solidFill>
              <a:srgbClr val="C97B1A"/>
            </a:solidFill>
            <a:prstDash val="solid"/>
          </a:ln>
        </p:spPr>
      </p:sp>
      <p:sp>
        <p:nvSpPr>
          <p:cNvPr id="12" name="Text 10"/>
          <p:cNvSpPr/>
          <p:nvPr/>
        </p:nvSpPr>
        <p:spPr>
          <a:xfrm>
            <a:off x="5440680" y="2029968"/>
            <a:ext cx="1737360" cy="23774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2 MONTHS FREE</a:t>
            </a:r>
            <a:endParaRPr lang="en-US" sz="950" dirty="0"/>
          </a:p>
        </p:txBody>
      </p:sp>
      <p:sp>
        <p:nvSpPr>
          <p:cNvPr id="13" name="Text 11"/>
          <p:cNvSpPr/>
          <p:nvPr/>
        </p:nvSpPr>
        <p:spPr>
          <a:xfrm>
            <a:off x="4846320" y="2468880"/>
            <a:ext cx="2926080" cy="274320"/>
          </a:xfrm>
          <a:prstGeom prst="rect">
            <a:avLst/>
          </a:prstGeom>
          <a:noFill/>
          <a:ln/>
        </p:spPr>
        <p:txBody>
          <a:bodyPr wrap="square" lIns="0" tIns="0" rIns="0" bIns="0" rtlCol="0" anchor="ctr"/>
          <a:lstStyle/>
          <a:p>
            <a:pPr indent="0" marL="0">
              <a:buNone/>
            </a:pPr>
            <a:r>
              <a:rPr lang="en-US" sz="1050" b="1" spc="200" kern="0" dirty="0">
                <a:solidFill>
                  <a:srgbClr val="C97B1A"/>
                </a:solidFill>
                <a:latin typeface="Calibri" pitchFamily="34" charset="0"/>
                <a:ea typeface="Calibri" pitchFamily="34" charset="-122"/>
                <a:cs typeface="Calibri" pitchFamily="34" charset="-120"/>
              </a:rPr>
              <a:t>YEARLY</a:t>
            </a:r>
            <a:endParaRPr lang="en-US" sz="1050" dirty="0"/>
          </a:p>
        </p:txBody>
      </p:sp>
      <p:sp>
        <p:nvSpPr>
          <p:cNvPr id="14" name="Text 12"/>
          <p:cNvSpPr/>
          <p:nvPr/>
        </p:nvSpPr>
        <p:spPr>
          <a:xfrm>
            <a:off x="4846320" y="2834640"/>
            <a:ext cx="2926080" cy="640080"/>
          </a:xfrm>
          <a:prstGeom prst="rect">
            <a:avLst/>
          </a:prstGeom>
          <a:noFill/>
          <a:ln/>
        </p:spPr>
        <p:txBody>
          <a:bodyPr wrap="square" lIns="0" tIns="0" rIns="0" bIns="0" rtlCol="0" anchor="ctr"/>
          <a:lstStyle/>
          <a:p>
            <a:pPr indent="0" marL="0">
              <a:buNone/>
            </a:pPr>
            <a:r>
              <a:rPr lang="en-US" sz="3800" b="1" dirty="0">
                <a:solidFill>
                  <a:srgbClr val="16243A"/>
                </a:solidFill>
                <a:latin typeface="Cambria" pitchFamily="34" charset="0"/>
                <a:ea typeface="Cambria" pitchFamily="34" charset="-122"/>
                <a:cs typeface="Cambria" pitchFamily="34" charset="-120"/>
              </a:rPr>
              <a:t>GHS 1,500</a:t>
            </a:r>
            <a:endParaRPr lang="en-US" sz="3800" dirty="0"/>
          </a:p>
        </p:txBody>
      </p:sp>
      <p:sp>
        <p:nvSpPr>
          <p:cNvPr id="15" name="Text 13"/>
          <p:cNvSpPr/>
          <p:nvPr/>
        </p:nvSpPr>
        <p:spPr>
          <a:xfrm>
            <a:off x="4846320" y="3520440"/>
            <a:ext cx="2926080" cy="274320"/>
          </a:xfrm>
          <a:prstGeom prst="rect">
            <a:avLst/>
          </a:prstGeom>
          <a:noFill/>
          <a:ln/>
        </p:spPr>
        <p:txBody>
          <a:bodyPr wrap="square" lIns="0" tIns="0" rIns="0" bIns="0" rtlCol="0" anchor="ctr"/>
          <a:lstStyle/>
          <a:p>
            <a:pPr indent="0" marL="0">
              <a:buNone/>
            </a:pPr>
            <a:r>
              <a:rPr lang="en-US" sz="1300" dirty="0">
                <a:solidFill>
                  <a:srgbClr val="7A6E60"/>
                </a:solidFill>
                <a:latin typeface="Calibri" pitchFamily="34" charset="0"/>
                <a:ea typeface="Calibri" pitchFamily="34" charset="-122"/>
                <a:cs typeface="Calibri" pitchFamily="34" charset="-120"/>
              </a:rPr>
              <a:t>per year</a:t>
            </a:r>
            <a:endParaRPr lang="en-US" sz="1300" dirty="0"/>
          </a:p>
        </p:txBody>
      </p:sp>
      <p:sp>
        <p:nvSpPr>
          <p:cNvPr id="16" name="Text 14"/>
          <p:cNvSpPr/>
          <p:nvPr/>
        </p:nvSpPr>
        <p:spPr>
          <a:xfrm>
            <a:off x="4846320" y="3840480"/>
            <a:ext cx="2926080" cy="274320"/>
          </a:xfrm>
          <a:prstGeom prst="rect">
            <a:avLst/>
          </a:prstGeom>
          <a:noFill/>
          <a:ln/>
        </p:spPr>
        <p:txBody>
          <a:bodyPr wrap="square" lIns="0" tIns="0" rIns="0" bIns="0" rtlCol="0" anchor="ctr"/>
          <a:lstStyle/>
          <a:p>
            <a:pPr indent="0" marL="0">
              <a:buNone/>
            </a:pPr>
            <a:r>
              <a:rPr lang="en-US" sz="1200" dirty="0">
                <a:solidFill>
                  <a:srgbClr val="2E7D4E"/>
                </a:solidFill>
                <a:latin typeface="Calibri" pitchFamily="34" charset="0"/>
                <a:ea typeface="Calibri" pitchFamily="34" charset="-122"/>
                <a:cs typeface="Calibri" pitchFamily="34" charset="-120"/>
              </a:rPr>
              <a:t>Saves GHS 300 a year.</a:t>
            </a:r>
            <a:endParaRPr lang="en-US" sz="1200" dirty="0"/>
          </a:p>
        </p:txBody>
      </p:sp>
      <p:sp>
        <p:nvSpPr>
          <p:cNvPr id="17" name="Shape 15"/>
          <p:cNvSpPr/>
          <p:nvPr/>
        </p:nvSpPr>
        <p:spPr>
          <a:xfrm>
            <a:off x="8412480" y="2148840"/>
            <a:ext cx="3108960" cy="2286000"/>
          </a:xfrm>
          <a:prstGeom prst="roundRect">
            <a:avLst>
              <a:gd name="adj" fmla="val 4000"/>
            </a:avLst>
          </a:prstGeom>
          <a:solidFill>
            <a:srgbClr val="16243A"/>
          </a:solidFill>
          <a:ln w="12700">
            <a:solidFill>
              <a:srgbClr val="16243A"/>
            </a:solidFill>
            <a:prstDash val="solid"/>
          </a:ln>
        </p:spPr>
      </p:sp>
      <p:sp>
        <p:nvSpPr>
          <p:cNvPr id="18" name="Text 16"/>
          <p:cNvSpPr/>
          <p:nvPr/>
        </p:nvSpPr>
        <p:spPr>
          <a:xfrm>
            <a:off x="8732520" y="2423160"/>
            <a:ext cx="2560320" cy="274320"/>
          </a:xfrm>
          <a:prstGeom prst="rect">
            <a:avLst/>
          </a:prstGeom>
          <a:noFill/>
          <a:ln/>
        </p:spPr>
        <p:txBody>
          <a:bodyPr wrap="square" lIns="0" tIns="0" rIns="0" bIns="0" rtlCol="0" anchor="ctr"/>
          <a:lstStyle/>
          <a:p>
            <a:pPr indent="0" marL="0">
              <a:buNone/>
            </a:pPr>
            <a:r>
              <a:rPr lang="en-US" sz="1050" b="1" spc="200" kern="0" dirty="0">
                <a:solidFill>
                  <a:srgbClr val="F0A832"/>
                </a:solidFill>
                <a:latin typeface="Calibri" pitchFamily="34" charset="0"/>
                <a:ea typeface="Calibri" pitchFamily="34" charset="-122"/>
                <a:cs typeface="Calibri" pitchFamily="34" charset="-120"/>
              </a:rPr>
              <a:t>INCLUDED</a:t>
            </a:r>
            <a:endParaRPr lang="en-US" sz="1050" dirty="0"/>
          </a:p>
        </p:txBody>
      </p:sp>
      <p:sp>
        <p:nvSpPr>
          <p:cNvPr id="19" name="Text 17"/>
          <p:cNvSpPr/>
          <p:nvPr/>
        </p:nvSpPr>
        <p:spPr>
          <a:xfrm>
            <a:off x="8732520" y="2788920"/>
            <a:ext cx="2560320" cy="274320"/>
          </a:xfrm>
          <a:prstGeom prst="rect">
            <a:avLst/>
          </a:prstGeom>
          <a:noFill/>
          <a:ln/>
        </p:spPr>
        <p:txBody>
          <a:bodyPr wrap="square" lIns="0" tIns="0" rIns="0" bIns="0" rtlCol="0" anchor="ctr"/>
          <a:lstStyle/>
          <a:p>
            <a:pPr indent="0" marL="0">
              <a:buNone/>
            </a:pPr>
            <a:r>
              <a:rPr lang="en-US" sz="1150" dirty="0">
                <a:solidFill>
                  <a:srgbClr val="DCE2EA"/>
                </a:solidFill>
                <a:latin typeface="Calibri" pitchFamily="34" charset="0"/>
                <a:ea typeface="Calibri" pitchFamily="34" charset="-122"/>
                <a:cs typeface="Calibri" pitchFamily="34" charset="-120"/>
              </a:rPr>
              <a:t>✓  Unlimited members</a:t>
            </a:r>
            <a:endParaRPr lang="en-US" sz="1150" dirty="0"/>
          </a:p>
        </p:txBody>
      </p:sp>
      <p:sp>
        <p:nvSpPr>
          <p:cNvPr id="20" name="Text 18"/>
          <p:cNvSpPr/>
          <p:nvPr/>
        </p:nvSpPr>
        <p:spPr>
          <a:xfrm>
            <a:off x="8732520" y="3099816"/>
            <a:ext cx="2560320" cy="274320"/>
          </a:xfrm>
          <a:prstGeom prst="rect">
            <a:avLst/>
          </a:prstGeom>
          <a:noFill/>
          <a:ln/>
        </p:spPr>
        <p:txBody>
          <a:bodyPr wrap="square" lIns="0" tIns="0" rIns="0" bIns="0" rtlCol="0" anchor="ctr"/>
          <a:lstStyle/>
          <a:p>
            <a:pPr indent="0" marL="0">
              <a:buNone/>
            </a:pPr>
            <a:r>
              <a:rPr lang="en-US" sz="1150" dirty="0">
                <a:solidFill>
                  <a:srgbClr val="DCE2EA"/>
                </a:solidFill>
                <a:latin typeface="Calibri" pitchFamily="34" charset="0"/>
                <a:ea typeface="Calibri" pitchFamily="34" charset="-122"/>
                <a:cs typeface="Calibri" pitchFamily="34" charset="-120"/>
              </a:rPr>
              <a:t>✓  Unlimited check-ins</a:t>
            </a:r>
            <a:endParaRPr lang="en-US" sz="1150" dirty="0"/>
          </a:p>
        </p:txBody>
      </p:sp>
      <p:sp>
        <p:nvSpPr>
          <p:cNvPr id="21" name="Text 19"/>
          <p:cNvSpPr/>
          <p:nvPr/>
        </p:nvSpPr>
        <p:spPr>
          <a:xfrm>
            <a:off x="8732520" y="3410712"/>
            <a:ext cx="2560320" cy="274320"/>
          </a:xfrm>
          <a:prstGeom prst="rect">
            <a:avLst/>
          </a:prstGeom>
          <a:noFill/>
          <a:ln/>
        </p:spPr>
        <p:txBody>
          <a:bodyPr wrap="square" lIns="0" tIns="0" rIns="0" bIns="0" rtlCol="0" anchor="ctr"/>
          <a:lstStyle/>
          <a:p>
            <a:pPr indent="0" marL="0">
              <a:buNone/>
            </a:pPr>
            <a:r>
              <a:rPr lang="en-US" sz="1150" dirty="0">
                <a:solidFill>
                  <a:srgbClr val="DCE2EA"/>
                </a:solidFill>
                <a:latin typeface="Calibri" pitchFamily="34" charset="0"/>
                <a:ea typeface="Calibri" pitchFamily="34" charset="-122"/>
                <a:cs typeface="Calibri" pitchFamily="34" charset="-120"/>
              </a:rPr>
              <a:t>✓  Giving and receipts</a:t>
            </a:r>
            <a:endParaRPr lang="en-US" sz="1150" dirty="0"/>
          </a:p>
        </p:txBody>
      </p:sp>
      <p:sp>
        <p:nvSpPr>
          <p:cNvPr id="22" name="Text 20"/>
          <p:cNvSpPr/>
          <p:nvPr/>
        </p:nvSpPr>
        <p:spPr>
          <a:xfrm>
            <a:off x="8732520" y="3721608"/>
            <a:ext cx="2560320" cy="274320"/>
          </a:xfrm>
          <a:prstGeom prst="rect">
            <a:avLst/>
          </a:prstGeom>
          <a:noFill/>
          <a:ln/>
        </p:spPr>
        <p:txBody>
          <a:bodyPr wrap="square" lIns="0" tIns="0" rIns="0" bIns="0" rtlCol="0" anchor="ctr"/>
          <a:lstStyle/>
          <a:p>
            <a:pPr indent="0" marL="0">
              <a:buNone/>
            </a:pPr>
            <a:r>
              <a:rPr lang="en-US" sz="1150" dirty="0">
                <a:solidFill>
                  <a:srgbClr val="DCE2EA"/>
                </a:solidFill>
                <a:latin typeface="Calibri" pitchFamily="34" charset="0"/>
                <a:ea typeface="Calibri" pitchFamily="34" charset="-122"/>
                <a:cs typeface="Calibri" pitchFamily="34" charset="-120"/>
              </a:rPr>
              <a:t>✓  Analytics and reports</a:t>
            </a:r>
            <a:endParaRPr lang="en-US" sz="1150" dirty="0"/>
          </a:p>
        </p:txBody>
      </p:sp>
      <p:sp>
        <p:nvSpPr>
          <p:cNvPr id="23" name="Text 21"/>
          <p:cNvSpPr/>
          <p:nvPr/>
        </p:nvSpPr>
        <p:spPr>
          <a:xfrm>
            <a:off x="8732520" y="4032504"/>
            <a:ext cx="2560320" cy="274320"/>
          </a:xfrm>
          <a:prstGeom prst="rect">
            <a:avLst/>
          </a:prstGeom>
          <a:noFill/>
          <a:ln/>
        </p:spPr>
        <p:txBody>
          <a:bodyPr wrap="square" lIns="0" tIns="0" rIns="0" bIns="0" rtlCol="0" anchor="ctr"/>
          <a:lstStyle/>
          <a:p>
            <a:pPr indent="0" marL="0">
              <a:buNone/>
            </a:pPr>
            <a:r>
              <a:rPr lang="en-US" sz="1150" dirty="0">
                <a:solidFill>
                  <a:srgbClr val="DCE2EA"/>
                </a:solidFill>
                <a:latin typeface="Calibri" pitchFamily="34" charset="0"/>
                <a:ea typeface="Calibri" pitchFamily="34" charset="-122"/>
                <a:cs typeface="Calibri" pitchFamily="34" charset="-120"/>
              </a:rPr>
              <a:t>✓  Automatic emails</a:t>
            </a:r>
            <a:endParaRPr lang="en-US" sz="1150" dirty="0"/>
          </a:p>
        </p:txBody>
      </p:sp>
      <p:sp>
        <p:nvSpPr>
          <p:cNvPr id="24" name="Text 22"/>
          <p:cNvSpPr/>
          <p:nvPr/>
        </p:nvSpPr>
        <p:spPr>
          <a:xfrm>
            <a:off x="640080" y="4892040"/>
            <a:ext cx="10881360" cy="457200"/>
          </a:xfrm>
          <a:prstGeom prst="rect">
            <a:avLst/>
          </a:prstGeom>
          <a:noFill/>
          <a:ln/>
        </p:spPr>
        <p:txBody>
          <a:bodyPr wrap="square" lIns="0" tIns="0" rIns="0" bIns="0" rtlCol="0" anchor="ctr"/>
          <a:lstStyle/>
          <a:p>
            <a:pPr indent="0" marL="0">
              <a:buNone/>
            </a:pPr>
            <a:r>
              <a:rPr lang="en-US" sz="1300" dirty="0">
                <a:solidFill>
                  <a:srgbClr val="7A6E60"/>
                </a:solidFill>
                <a:latin typeface="Calibri" pitchFamily="34" charset="0"/>
                <a:ea typeface="Calibri" pitchFamily="34" charset="-122"/>
                <a:cs typeface="Calibri" pitchFamily="34" charset="-120"/>
              </a:rPr>
              <a:t>Paid by card or Mobile Money through Paystack. Every church starts with a free 14-day trial — no card needed to begin.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420"/>
        </a:solidFill>
      </p:bgPr>
    </p:bg>
    <p:spTree>
      <p:nvGrpSpPr>
        <p:cNvPr id="1" name=""/>
        <p:cNvGrpSpPr/>
        <p:nvPr/>
      </p:nvGrpSpPr>
      <p:grpSpPr>
        <a:xfrm>
          <a:off x="0" y="0"/>
          <a:ext cx="0" cy="0"/>
          <a:chOff x="0" y="0"/>
          <a:chExt cx="0" cy="0"/>
        </a:xfrm>
      </p:grpSpPr>
      <p:sp>
        <p:nvSpPr>
          <p:cNvPr id="2" name="Shape 0"/>
          <p:cNvSpPr/>
          <p:nvPr/>
        </p:nvSpPr>
        <p:spPr>
          <a:xfrm>
            <a:off x="-2377440" y="3108960"/>
            <a:ext cx="6858000" cy="6858000"/>
          </a:xfrm>
          <a:prstGeom prst="ellipse">
            <a:avLst/>
          </a:prstGeom>
          <a:solidFill>
            <a:srgbClr val="16243A">
              <a:alpha val="45000"/>
            </a:srgbClr>
          </a:solidFill>
          <a:ln w="12700">
            <a:solidFill>
              <a:srgbClr val="16243A">
                <a:alpha val="0"/>
              </a:srgbClr>
            </a:solidFill>
            <a:prstDash val="solid"/>
          </a:ln>
        </p:spPr>
      </p:sp>
      <p:sp>
        <p:nvSpPr>
          <p:cNvPr id="3" name="Text 1"/>
          <p:cNvSpPr/>
          <p:nvPr/>
        </p:nvSpPr>
        <p:spPr>
          <a:xfrm>
            <a:off x="822960" y="1371600"/>
            <a:ext cx="8229600" cy="731520"/>
          </a:xfrm>
          <a:prstGeom prst="rect">
            <a:avLst/>
          </a:prstGeom>
          <a:noFill/>
          <a:ln/>
        </p:spPr>
        <p:txBody>
          <a:bodyPr wrap="square" lIns="0" tIns="0" rIns="0" bIns="0" rtlCol="0" anchor="ctr"/>
          <a:lstStyle/>
          <a:p>
            <a:pPr indent="0" marL="0">
              <a:buNone/>
            </a:pPr>
            <a:r>
              <a:rPr lang="en-US" sz="4200" b="1" dirty="0">
                <a:solidFill>
                  <a:srgbClr val="F0A832"/>
                </a:solidFill>
                <a:latin typeface="Cambria" pitchFamily="34" charset="0"/>
                <a:ea typeface="Cambria" pitchFamily="34" charset="-122"/>
                <a:cs typeface="Cambria" pitchFamily="34" charset="-120"/>
              </a:rPr>
              <a:t>We</a:t>
            </a:r>
            <a:pPr indent="0" marL="0">
              <a:buNone/>
            </a:pPr>
            <a:r>
              <a:rPr lang="en-US" sz="4200" b="1" dirty="0">
                <a:solidFill>
                  <a:srgbClr val="FFFFFF"/>
                </a:solidFill>
                <a:latin typeface="Cambria" pitchFamily="34" charset="0"/>
                <a:ea typeface="Cambria" pitchFamily="34" charset="-122"/>
                <a:cs typeface="Cambria" pitchFamily="34" charset="-120"/>
              </a:rPr>
              <a:t>Motiply</a:t>
            </a:r>
            <a:endParaRPr lang="en-US" sz="4200" dirty="0"/>
          </a:p>
        </p:txBody>
      </p:sp>
      <p:sp>
        <p:nvSpPr>
          <p:cNvPr id="4" name="Text 2"/>
          <p:cNvSpPr/>
          <p:nvPr/>
        </p:nvSpPr>
        <p:spPr>
          <a:xfrm>
            <a:off x="868680" y="2103120"/>
            <a:ext cx="8229600" cy="365760"/>
          </a:xfrm>
          <a:prstGeom prst="rect">
            <a:avLst/>
          </a:prstGeom>
          <a:noFill/>
          <a:ln/>
        </p:spPr>
        <p:txBody>
          <a:bodyPr wrap="square" lIns="0" tIns="0" rIns="0" bIns="0" rtlCol="0" anchor="ctr"/>
          <a:lstStyle/>
          <a:p>
            <a:pPr indent="0" marL="0">
              <a:buNone/>
            </a:pPr>
            <a:r>
              <a:rPr lang="en-US" sz="1800" i="1" dirty="0">
                <a:solidFill>
                  <a:srgbClr val="F0A832"/>
                </a:solidFill>
                <a:latin typeface="Cambria" pitchFamily="34" charset="0"/>
                <a:ea typeface="Cambria" pitchFamily="34" charset="-122"/>
                <a:cs typeface="Cambria" pitchFamily="34" charset="-120"/>
              </a:rPr>
              <a:t>Together, we multiply.</a:t>
            </a:r>
            <a:endParaRPr lang="en-US" sz="1800" dirty="0"/>
          </a:p>
        </p:txBody>
      </p:sp>
      <p:sp>
        <p:nvSpPr>
          <p:cNvPr id="5" name="Shape 3"/>
          <p:cNvSpPr/>
          <p:nvPr/>
        </p:nvSpPr>
        <p:spPr>
          <a:xfrm>
            <a:off x="822960" y="3063240"/>
            <a:ext cx="1920240" cy="685800"/>
          </a:xfrm>
          <a:prstGeom prst="roundRect">
            <a:avLst>
              <a:gd name="adj" fmla="val 10667"/>
            </a:avLst>
          </a:prstGeom>
          <a:solidFill>
            <a:srgbClr val="16243A"/>
          </a:solidFill>
          <a:ln w="12700">
            <a:solidFill>
              <a:srgbClr val="2C3B52"/>
            </a:solidFill>
            <a:prstDash val="solid"/>
          </a:ln>
        </p:spPr>
      </p:sp>
      <p:sp>
        <p:nvSpPr>
          <p:cNvPr id="6" name="Text 4"/>
          <p:cNvSpPr/>
          <p:nvPr/>
        </p:nvSpPr>
        <p:spPr>
          <a:xfrm>
            <a:off x="822960" y="3246120"/>
            <a:ext cx="1920240" cy="3200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Check-in</a:t>
            </a:r>
            <a:endParaRPr lang="en-US" sz="1350" dirty="0"/>
          </a:p>
        </p:txBody>
      </p:sp>
      <p:sp>
        <p:nvSpPr>
          <p:cNvPr id="7" name="Shape 5"/>
          <p:cNvSpPr/>
          <p:nvPr/>
        </p:nvSpPr>
        <p:spPr>
          <a:xfrm>
            <a:off x="2971800" y="3063240"/>
            <a:ext cx="1920240" cy="685800"/>
          </a:xfrm>
          <a:prstGeom prst="roundRect">
            <a:avLst>
              <a:gd name="adj" fmla="val 10667"/>
            </a:avLst>
          </a:prstGeom>
          <a:solidFill>
            <a:srgbClr val="16243A"/>
          </a:solidFill>
          <a:ln w="12700">
            <a:solidFill>
              <a:srgbClr val="2C3B52"/>
            </a:solidFill>
            <a:prstDash val="solid"/>
          </a:ln>
        </p:spPr>
      </p:sp>
      <p:sp>
        <p:nvSpPr>
          <p:cNvPr id="8" name="Text 6"/>
          <p:cNvSpPr/>
          <p:nvPr/>
        </p:nvSpPr>
        <p:spPr>
          <a:xfrm>
            <a:off x="2971800" y="3246120"/>
            <a:ext cx="1920240" cy="3200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People</a:t>
            </a:r>
            <a:endParaRPr lang="en-US" sz="1350" dirty="0"/>
          </a:p>
        </p:txBody>
      </p:sp>
      <p:sp>
        <p:nvSpPr>
          <p:cNvPr id="9" name="Shape 7"/>
          <p:cNvSpPr/>
          <p:nvPr/>
        </p:nvSpPr>
        <p:spPr>
          <a:xfrm>
            <a:off x="5120640" y="3063240"/>
            <a:ext cx="1920240" cy="685800"/>
          </a:xfrm>
          <a:prstGeom prst="roundRect">
            <a:avLst>
              <a:gd name="adj" fmla="val 10667"/>
            </a:avLst>
          </a:prstGeom>
          <a:solidFill>
            <a:srgbClr val="16243A"/>
          </a:solidFill>
          <a:ln w="12700">
            <a:solidFill>
              <a:srgbClr val="2C3B52"/>
            </a:solidFill>
            <a:prstDash val="solid"/>
          </a:ln>
        </p:spPr>
      </p:sp>
      <p:sp>
        <p:nvSpPr>
          <p:cNvPr id="10" name="Text 8"/>
          <p:cNvSpPr/>
          <p:nvPr/>
        </p:nvSpPr>
        <p:spPr>
          <a:xfrm>
            <a:off x="5120640" y="3246120"/>
            <a:ext cx="1920240" cy="3200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Giving</a:t>
            </a:r>
            <a:endParaRPr lang="en-US" sz="1350" dirty="0"/>
          </a:p>
        </p:txBody>
      </p:sp>
      <p:sp>
        <p:nvSpPr>
          <p:cNvPr id="11" name="Shape 9"/>
          <p:cNvSpPr/>
          <p:nvPr/>
        </p:nvSpPr>
        <p:spPr>
          <a:xfrm>
            <a:off x="7269480" y="3063240"/>
            <a:ext cx="1920240" cy="685800"/>
          </a:xfrm>
          <a:prstGeom prst="roundRect">
            <a:avLst>
              <a:gd name="adj" fmla="val 10667"/>
            </a:avLst>
          </a:prstGeom>
          <a:solidFill>
            <a:srgbClr val="16243A"/>
          </a:solidFill>
          <a:ln w="12700">
            <a:solidFill>
              <a:srgbClr val="2C3B52"/>
            </a:solidFill>
            <a:prstDash val="solid"/>
          </a:ln>
        </p:spPr>
      </p:sp>
      <p:sp>
        <p:nvSpPr>
          <p:cNvPr id="12" name="Text 10"/>
          <p:cNvSpPr/>
          <p:nvPr/>
        </p:nvSpPr>
        <p:spPr>
          <a:xfrm>
            <a:off x="7269480" y="3246120"/>
            <a:ext cx="1920240" cy="3200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Insight</a:t>
            </a:r>
            <a:endParaRPr lang="en-US" sz="1350" dirty="0"/>
          </a:p>
        </p:txBody>
      </p:sp>
      <p:sp>
        <p:nvSpPr>
          <p:cNvPr id="13" name="Shape 11"/>
          <p:cNvSpPr/>
          <p:nvPr/>
        </p:nvSpPr>
        <p:spPr>
          <a:xfrm>
            <a:off x="9418320" y="3063240"/>
            <a:ext cx="1920240" cy="685800"/>
          </a:xfrm>
          <a:prstGeom prst="roundRect">
            <a:avLst>
              <a:gd name="adj" fmla="val 10667"/>
            </a:avLst>
          </a:prstGeom>
          <a:solidFill>
            <a:srgbClr val="16243A"/>
          </a:solidFill>
          <a:ln w="12700">
            <a:solidFill>
              <a:srgbClr val="2C3B52"/>
            </a:solidFill>
            <a:prstDash val="solid"/>
          </a:ln>
        </p:spPr>
      </p:sp>
      <p:sp>
        <p:nvSpPr>
          <p:cNvPr id="14" name="Text 12"/>
          <p:cNvSpPr/>
          <p:nvPr/>
        </p:nvSpPr>
        <p:spPr>
          <a:xfrm>
            <a:off x="9418320" y="3246120"/>
            <a:ext cx="1920240" cy="32004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Emails</a:t>
            </a:r>
            <a:endParaRPr lang="en-US" sz="1350" dirty="0"/>
          </a:p>
        </p:txBody>
      </p:sp>
      <p:sp>
        <p:nvSpPr>
          <p:cNvPr id="15" name="Text 13"/>
          <p:cNvSpPr/>
          <p:nvPr/>
        </p:nvSpPr>
        <p:spPr>
          <a:xfrm>
            <a:off x="822960" y="4434840"/>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Start free for 14 days</a:t>
            </a:r>
            <a:endParaRPr lang="en-US" sz="2800" dirty="0"/>
          </a:p>
        </p:txBody>
      </p:sp>
      <p:sp>
        <p:nvSpPr>
          <p:cNvPr id="16" name="Text 14"/>
          <p:cNvSpPr/>
          <p:nvPr/>
        </p:nvSpPr>
        <p:spPr>
          <a:xfrm>
            <a:off x="822960" y="4983480"/>
            <a:ext cx="8229600" cy="320040"/>
          </a:xfrm>
          <a:prstGeom prst="rect">
            <a:avLst/>
          </a:prstGeom>
          <a:noFill/>
          <a:ln/>
        </p:spPr>
        <p:txBody>
          <a:bodyPr wrap="square" lIns="0" tIns="0" rIns="0" bIns="0" rtlCol="0" anchor="ctr"/>
          <a:lstStyle/>
          <a:p>
            <a:pPr indent="0" marL="0">
              <a:buNone/>
            </a:pPr>
            <a:r>
              <a:rPr lang="en-US" sz="1400" dirty="0">
                <a:solidFill>
                  <a:srgbClr val="9BA7B8"/>
                </a:solidFill>
                <a:latin typeface="Calibri" pitchFamily="34" charset="0"/>
                <a:ea typeface="Calibri" pitchFamily="34" charset="-122"/>
                <a:cs typeface="Calibri" pitchFamily="34" charset="-120"/>
              </a:rPr>
              <a:t>No credit card  ·  Set up in five minutes  ·  Cancel any time</a:t>
            </a:r>
            <a:endParaRPr lang="en-US" sz="1400" dirty="0"/>
          </a:p>
        </p:txBody>
      </p:sp>
      <p:sp>
        <p:nvSpPr>
          <p:cNvPr id="17" name="Text 15"/>
          <p:cNvSpPr/>
          <p:nvPr/>
        </p:nvSpPr>
        <p:spPr>
          <a:xfrm>
            <a:off x="822960" y="5440680"/>
            <a:ext cx="8229600" cy="320040"/>
          </a:xfrm>
          <a:prstGeom prst="rect">
            <a:avLst/>
          </a:prstGeom>
          <a:noFill/>
          <a:ln/>
        </p:spPr>
        <p:txBody>
          <a:bodyPr wrap="square" lIns="0" tIns="0" rIns="0" bIns="0" rtlCol="0" anchor="ctr"/>
          <a:lstStyle/>
          <a:p>
            <a:pPr indent="0" marL="0">
              <a:buNone/>
            </a:pPr>
            <a:r>
              <a:rPr lang="en-US" sz="1400" b="1" dirty="0">
                <a:solidFill>
                  <a:srgbClr val="F0A832"/>
                </a:solidFill>
                <a:latin typeface="Calibri" pitchFamily="34" charset="0"/>
                <a:ea typeface="Calibri" pitchFamily="34" charset="-122"/>
                <a:cs typeface="Calibri" pitchFamily="34" charset="-120"/>
              </a:rPr>
              <a:t>GHS 150 / month  ·  GHS 1,500 / year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WeMotiply — Product Walkthrough</dc:title>
  <dc:subject>PptxGenJS Presentation</dc:subject>
  <dc:creator>WeMotiply</dc:creator>
  <cp:lastModifiedBy>WeMotiply</cp:lastModifiedBy>
  <cp:revision>1</cp:revision>
  <dcterms:created xsi:type="dcterms:W3CDTF">2026-08-03T08:07:12Z</dcterms:created>
  <dcterms:modified xsi:type="dcterms:W3CDTF">2026-08-03T08:07:12Z</dcterms:modified>
</cp:coreProperties>
</file>