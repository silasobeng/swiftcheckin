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Attendance</c:v>
                </c:pt>
              </c:strCache>
            </c:strRef>
          </c:tx>
          <c:spPr>
            <a:solidFill>
              <a:srgbClr val="C97B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Feb</c:v>
                  </c:pt>
                  <c:pt idx="1">
                    <c:v>Mar</c:v>
                  </c:pt>
                  <c:pt idx="2">
                    <c:v>Apr</c:v>
                  </c:pt>
                  <c:pt idx="3">
                    <c:v>May</c:v>
                  </c:pt>
                  <c:pt idx="4">
                    <c:v>Jun</c:v>
                  </c:pt>
                  <c:pt idx="5">
                    <c:v>Jul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186</c:v>
                </c:pt>
                <c:pt idx="1">
                  <c:v>205</c:v>
                </c:pt>
                <c:pt idx="2">
                  <c:v>214</c:v>
                </c:pt>
                <c:pt idx="3">
                  <c:v>232</c:v>
                </c:pt>
                <c:pt idx="4">
                  <c:v>248</c:v>
                </c:pt>
                <c:pt idx="5">
                  <c:v>271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6E6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line to open: this is a full church check-in and management system. I’ll walk you through it exactly how you’d use it on a Sunday, start to finish.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whole thing simply: there are only two surfaces. A tablet at the door for check-in, and a private dashboard for you. Everything else lives inside the dashboard — which is what the rest of the tour covers.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star of the demo. Show the live kiosk: tap Returning, search a name. Then First Time, fill the quick form. Mention offline and the lock code so a curious child can’t exit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this right after a live check-in so a name pops in. Point out the open/close control and the nudges — the app tells them what data is missing.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point: they never build this list by hand — it fills itself from check-ins. Show search, open a profile, and mention Export so a board member knows the data is theirs.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things land here: it handles Ghanaian giving types natively, and the receipt is automatic. Record a gift live with your own email and show the receipt arrive.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emotional peak — tell the story of a church that caught a 3-month decline they’d never have seen on paper. Retention answers: are our visitors sticking?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“runs forever” promise. Show the three templates and the broadcast segments. Mention the attendance report emails a CSV with present AND absent members.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brief — it’s the setup once, forget it story. Branding on the kiosk, a code they choose themselves, contact details flow into every email. (There’s also a private owner portal, just for me, across all churches.)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journey in one breath — check-in, people, giving, insight, emails — all from one tap at the door. Then the ask: start a free trial today, set up in five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F0A832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77724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C97B1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923544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78638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SwiftEntryPro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822960" y="237744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5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guided tour of
</a:t>
            </a:r>
            <a:pPr indent="0" marL="0">
              <a:lnSpc>
                <a:spcPct val="103000"/>
              </a:lnSpc>
              <a:buNone/>
            </a:pPr>
            <a:r>
              <a:rPr lang="en-US" sz="5000" i="1" dirty="0">
                <a:solidFill>
                  <a:srgbClr val="F0A8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church, end to end.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822960" y="4526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9C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moment a visitor walks in, to the insight you get on Monday — every part of the app, in the order you’ll use it.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9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 check-in &amp; management, made simple.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screens. That’s the whole system.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4754880" cy="3108960"/>
          </a:xfrm>
          <a:prstGeom prst="roundRect">
            <a:avLst>
              <a:gd name="adj" fmla="val 4118"/>
            </a:avLst>
          </a:prstGeom>
          <a:solidFill>
            <a:srgbClr val="16243A"/>
          </a:solidFill>
          <a:ln/>
        </p:spPr>
      </p:sp>
      <p:sp>
        <p:nvSpPr>
          <p:cNvPr id="5" name="Shape 3"/>
          <p:cNvSpPr/>
          <p:nvPr/>
        </p:nvSpPr>
        <p:spPr>
          <a:xfrm>
            <a:off x="1234440" y="2926080"/>
            <a:ext cx="777240" cy="777240"/>
          </a:xfrm>
          <a:prstGeom prst="ellipse">
            <a:avLst/>
          </a:prstGeom>
          <a:solidFill>
            <a:srgbClr val="C97B1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3896" y="314553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94560" y="30358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DOOR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194560" y="33101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Kiosk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234440" y="406908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9C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tablet your members and visitors tap to check themselves in. No app, no staff needed.</a:t>
            </a:r>
            <a:endParaRPr lang="en-US" sz="14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3794760"/>
            <a:ext cx="457200" cy="4572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675120" y="2468880"/>
            <a:ext cx="4754880" cy="3108960"/>
          </a:xfrm>
          <a:prstGeom prst="roundRect">
            <a:avLst>
              <a:gd name="adj" fmla="val 4118"/>
            </a:avLst>
          </a:prstGeom>
          <a:solidFill>
            <a:srgbClr val="F8F4EE"/>
          </a:solidFill>
          <a:ln w="12700">
            <a:solidFill>
              <a:srgbClr val="E4DFD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086600" y="2926080"/>
            <a:ext cx="777240" cy="777240"/>
          </a:xfrm>
          <a:prstGeom prst="ellipse">
            <a:avLst/>
          </a:prstGeom>
          <a:solidFill>
            <a:srgbClr val="16243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056" y="3145536"/>
            <a:ext cx="338328" cy="3383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46720" y="30358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8046720" y="33101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Dashboard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086600" y="406908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the check-ins create — people, giving, insight, emails — in one private admin area.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9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6 slides walk through the dashboard, tab by tab.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548640" cy="548640"/>
          </a:xfrm>
          <a:prstGeom prst="ellipse">
            <a:avLst/>
          </a:prstGeom>
          <a:solidFill>
            <a:srgbClr val="C97B1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58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600200" y="65836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Check-in Kiosk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visitor sees at your entrance. They check themselves in, in seconds — you touch nothing.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063240"/>
            <a:ext cx="457200" cy="457200"/>
          </a:xfrm>
          <a:prstGeom prst="ellipse">
            <a:avLst/>
          </a:prstGeom>
          <a:solidFill>
            <a:srgbClr val="2E7D4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3191256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302666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Returning members tap their name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463040" y="3337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tap, done — a warm welcome in about 5 seconds.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3959352"/>
            <a:ext cx="457200" cy="457200"/>
          </a:xfrm>
          <a:prstGeom prst="ellipse">
            <a:avLst/>
          </a:prstGeom>
          <a:solidFill>
            <a:srgbClr val="C97B1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4087368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63040" y="392277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First-timers fill a 30-second form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463040" y="42336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phone, gender — and they’re saved for next time.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22960" y="4855464"/>
            <a:ext cx="457200" cy="457200"/>
          </a:xfrm>
          <a:prstGeom prst="ellipse">
            <a:avLst/>
          </a:prstGeom>
          <a:solidFill>
            <a:srgbClr val="16243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983480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481888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 even offline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463040" y="512978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wifi? Check-ins save on the device and sync later.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822960" y="5751576"/>
            <a:ext cx="457200" cy="457200"/>
          </a:xfrm>
          <a:prstGeom prst="ellipse">
            <a:avLst/>
          </a:prstGeom>
          <a:solidFill>
            <a:srgbClr val="16243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5879592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63040" y="57150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Locked to check-in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1463040" y="602589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kiosk code stops anyone wandering out of the screen.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6949440" y="1417320"/>
            <a:ext cx="4434840" cy="475488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E4DFD5"/>
            </a:solidFill>
            <a:prstDash val="solid"/>
          </a:ln>
          <a:effectLst>
            <a:outerShdw sx="100000" sy="100000" kx="0" ky="0" algn="bl" rotWithShape="0" blurRad="177800" dist="63500" dir="5400000">
              <a:srgbClr val="B8B2A6">
                <a:alpha val="4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949440" y="1417320"/>
            <a:ext cx="4434840" cy="4754880"/>
          </a:xfrm>
          <a:prstGeom prst="roundRect">
            <a:avLst>
              <a:gd name="adj" fmla="val 2474"/>
            </a:avLst>
          </a:prstGeom>
          <a:solidFill>
            <a:srgbClr val="16243A"/>
          </a:solidFill>
          <a:ln/>
        </p:spPr>
      </p:sp>
      <p:sp>
        <p:nvSpPr>
          <p:cNvPr id="25" name="Text 19"/>
          <p:cNvSpPr/>
          <p:nvPr/>
        </p:nvSpPr>
        <p:spPr>
          <a:xfrm>
            <a:off x="6949440" y="187452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Grace Chapel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6949440" y="233172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We’re glad you’re here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7406640" y="3154680"/>
            <a:ext cx="3520440" cy="914400"/>
          </a:xfrm>
          <a:prstGeom prst="roundRect">
            <a:avLst>
              <a:gd name="adj" fmla="val 12000"/>
            </a:avLst>
          </a:prstGeom>
          <a:solidFill>
            <a:srgbClr val="2E7D4E"/>
          </a:solidFill>
          <a:ln/>
        </p:spPr>
      </p:sp>
      <p:sp>
        <p:nvSpPr>
          <p:cNvPr id="28" name="Text 22"/>
          <p:cNvSpPr/>
          <p:nvPr/>
        </p:nvSpPr>
        <p:spPr>
          <a:xfrm>
            <a:off x="7406640" y="34290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406640" y="4251960"/>
            <a:ext cx="3520440" cy="914400"/>
          </a:xfrm>
          <a:prstGeom prst="roundRect">
            <a:avLst>
              <a:gd name="adj" fmla="val 12000"/>
            </a:avLst>
          </a:prstGeom>
          <a:solidFill>
            <a:srgbClr val="C97B1A"/>
          </a:solidFill>
          <a:ln/>
        </p:spPr>
      </p:sp>
      <p:sp>
        <p:nvSpPr>
          <p:cNvPr id="30" name="Text 24"/>
          <p:cNvSpPr/>
          <p:nvPr/>
        </p:nvSpPr>
        <p:spPr>
          <a:xfrm>
            <a:off x="7406640" y="45262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TIME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548640" cy="548640"/>
          </a:xfrm>
          <a:prstGeom prst="ellipse">
            <a:avLst/>
          </a:prstGeom>
          <a:solidFill>
            <a:srgbClr val="C97B1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58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600200" y="65836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Dashboard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Sunday-morning home screen. Open it and see the service happening in real time.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063240"/>
            <a:ext cx="457200" cy="457200"/>
          </a:xfrm>
          <a:prstGeom prst="ellipse">
            <a:avLst/>
          </a:prstGeom>
          <a:solidFill>
            <a:srgbClr val="2E7D4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3191256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302666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Today’s check-ins, live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463040" y="3337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appear as people arrive — first-timers flagged.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3959352"/>
            <a:ext cx="457200" cy="457200"/>
          </a:xfrm>
          <a:prstGeom prst="ellipse">
            <a:avLst/>
          </a:prstGeom>
          <a:solidFill>
            <a:srgbClr val="16243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4087368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63040" y="392277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or close check-in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463040" y="42336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button controls whether the kiosk is accepting people.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22960" y="4855464"/>
            <a:ext cx="457200" cy="457200"/>
          </a:xfrm>
          <a:prstGeom prst="ellipse">
            <a:avLst/>
          </a:prstGeom>
          <a:solidFill>
            <a:srgbClr val="C97B1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983480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481888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“Things to know” nudges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463040" y="512978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birthdays or emails surface so you can fix them.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949440" y="1417320"/>
            <a:ext cx="4434840" cy="475488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E4DFD5"/>
            </a:solidFill>
            <a:prstDash val="solid"/>
          </a:ln>
          <a:effectLst>
            <a:outerShdw sx="100000" sy="100000" kx="0" ky="0" algn="bl" rotWithShape="0" blurRad="177800" dist="63500" dir="5400000">
              <a:srgbClr val="B8B2A6">
                <a:alpha val="40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7315200" y="17373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89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7315200" y="2103120"/>
            <a:ext cx="1760220" cy="914400"/>
          </a:xfrm>
          <a:prstGeom prst="roundRect">
            <a:avLst>
              <a:gd name="adj" fmla="val 10000"/>
            </a:avLst>
          </a:prstGeom>
          <a:solidFill>
            <a:srgbClr val="F8F4EE"/>
          </a:solidFill>
          <a:ln/>
        </p:spPr>
      </p:sp>
      <p:sp>
        <p:nvSpPr>
          <p:cNvPr id="22" name="Text 17"/>
          <p:cNvSpPr/>
          <p:nvPr/>
        </p:nvSpPr>
        <p:spPr>
          <a:xfrm>
            <a:off x="7315200" y="224028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2600" dirty="0"/>
          </a:p>
        </p:txBody>
      </p:sp>
      <p:sp>
        <p:nvSpPr>
          <p:cNvPr id="23" name="Text 18"/>
          <p:cNvSpPr/>
          <p:nvPr/>
        </p:nvSpPr>
        <p:spPr>
          <a:xfrm>
            <a:off x="7315200" y="2715768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in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9258300" y="2103120"/>
            <a:ext cx="1760220" cy="914400"/>
          </a:xfrm>
          <a:prstGeom prst="roundRect">
            <a:avLst>
              <a:gd name="adj" fmla="val 10000"/>
            </a:avLst>
          </a:prstGeom>
          <a:solidFill>
            <a:srgbClr val="F8F4EE"/>
          </a:solidFill>
          <a:ln/>
        </p:spPr>
      </p:sp>
      <p:sp>
        <p:nvSpPr>
          <p:cNvPr id="25" name="Text 20"/>
          <p:cNvSpPr/>
          <p:nvPr/>
        </p:nvSpPr>
        <p:spPr>
          <a:xfrm>
            <a:off x="9258300" y="224028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6" name="Text 21"/>
          <p:cNvSpPr/>
          <p:nvPr/>
        </p:nvSpPr>
        <p:spPr>
          <a:xfrm>
            <a:off x="9258300" y="2715768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First-timers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7315200" y="3291840"/>
            <a:ext cx="411480" cy="411480"/>
          </a:xfrm>
          <a:prstGeom prst="ellipse">
            <a:avLst/>
          </a:prstGeom>
          <a:solidFill>
            <a:srgbClr val="EDE7DC"/>
          </a:solidFill>
          <a:ln/>
        </p:spPr>
      </p:sp>
      <p:sp>
        <p:nvSpPr>
          <p:cNvPr id="28" name="Text 23"/>
          <p:cNvSpPr/>
          <p:nvPr/>
        </p:nvSpPr>
        <p:spPr>
          <a:xfrm>
            <a:off x="731520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6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7863840" y="329184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Abena Sarpong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10287000" y="32918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9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9:02 AM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7315200" y="3913632"/>
            <a:ext cx="411480" cy="411480"/>
          </a:xfrm>
          <a:prstGeom prst="ellipse">
            <a:avLst/>
          </a:prstGeom>
          <a:solidFill>
            <a:srgbClr val="EDE7DC"/>
          </a:solidFill>
          <a:ln/>
        </p:spPr>
      </p:sp>
      <p:sp>
        <p:nvSpPr>
          <p:cNvPr id="32" name="Text 27"/>
          <p:cNvSpPr/>
          <p:nvPr/>
        </p:nvSpPr>
        <p:spPr>
          <a:xfrm>
            <a:off x="7315200" y="3913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6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1300" dirty="0"/>
          </a:p>
        </p:txBody>
      </p:sp>
      <p:sp>
        <p:nvSpPr>
          <p:cNvPr id="33" name="Text 28"/>
          <p:cNvSpPr/>
          <p:nvPr/>
        </p:nvSpPr>
        <p:spPr>
          <a:xfrm>
            <a:off x="7863840" y="391363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Kwame Osei</a:t>
            </a:r>
            <a:endParaRPr lang="en-US" sz="1300" dirty="0"/>
          </a:p>
        </p:txBody>
      </p:sp>
      <p:sp>
        <p:nvSpPr>
          <p:cNvPr id="34" name="Text 29"/>
          <p:cNvSpPr/>
          <p:nvPr/>
        </p:nvSpPr>
        <p:spPr>
          <a:xfrm>
            <a:off x="10287000" y="391363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9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9:05 AM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7315200" y="4535424"/>
            <a:ext cx="411480" cy="411480"/>
          </a:xfrm>
          <a:prstGeom prst="ellipse">
            <a:avLst/>
          </a:prstGeom>
          <a:solidFill>
            <a:srgbClr val="EDE7DC"/>
          </a:solidFill>
          <a:ln/>
        </p:spPr>
      </p:sp>
      <p:sp>
        <p:nvSpPr>
          <p:cNvPr id="36" name="Text 31"/>
          <p:cNvSpPr/>
          <p:nvPr/>
        </p:nvSpPr>
        <p:spPr>
          <a:xfrm>
            <a:off x="7315200" y="45354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6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300" dirty="0"/>
          </a:p>
        </p:txBody>
      </p:sp>
      <p:sp>
        <p:nvSpPr>
          <p:cNvPr id="37" name="Text 32"/>
          <p:cNvSpPr/>
          <p:nvPr/>
        </p:nvSpPr>
        <p:spPr>
          <a:xfrm>
            <a:off x="7863840" y="4535424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 Owusu</a:t>
            </a:r>
            <a:endParaRPr lang="en-US" sz="1300" dirty="0"/>
          </a:p>
        </p:txBody>
      </p:sp>
      <p:sp>
        <p:nvSpPr>
          <p:cNvPr id="38" name="Text 33"/>
          <p:cNvSpPr/>
          <p:nvPr/>
        </p:nvSpPr>
        <p:spPr>
          <a:xfrm>
            <a:off x="10287000" y="4535424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9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9:07 AM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7315200" y="5157216"/>
            <a:ext cx="411480" cy="411480"/>
          </a:xfrm>
          <a:prstGeom prst="ellipse">
            <a:avLst/>
          </a:prstGeom>
          <a:solidFill>
            <a:srgbClr val="EDE7DC"/>
          </a:solidFill>
          <a:ln/>
        </p:spPr>
      </p:sp>
      <p:sp>
        <p:nvSpPr>
          <p:cNvPr id="40" name="Text 35"/>
          <p:cNvSpPr/>
          <p:nvPr/>
        </p:nvSpPr>
        <p:spPr>
          <a:xfrm>
            <a:off x="7315200" y="51572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6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endParaRPr lang="en-US" sz="1300" dirty="0"/>
          </a:p>
        </p:txBody>
      </p:sp>
      <p:sp>
        <p:nvSpPr>
          <p:cNvPr id="41" name="Text 36"/>
          <p:cNvSpPr/>
          <p:nvPr/>
        </p:nvSpPr>
        <p:spPr>
          <a:xfrm>
            <a:off x="7863840" y="5157216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Joseph Asante</a:t>
            </a:r>
            <a:endParaRPr lang="en-US" sz="1300" dirty="0"/>
          </a:p>
        </p:txBody>
      </p:sp>
      <p:sp>
        <p:nvSpPr>
          <p:cNvPr id="42" name="Text 37"/>
          <p:cNvSpPr/>
          <p:nvPr/>
        </p:nvSpPr>
        <p:spPr>
          <a:xfrm>
            <a:off x="10287000" y="5157216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9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9:11 AM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548640" cy="548640"/>
          </a:xfrm>
          <a:prstGeom prst="ellipse">
            <a:avLst/>
          </a:prstGeom>
          <a:solidFill>
            <a:srgbClr val="C97B1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58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600200" y="65836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Congregation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member, visitor and leader in one searchable place — built automatically from check-ins.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063240"/>
            <a:ext cx="457200" cy="457200"/>
          </a:xfrm>
          <a:prstGeom prst="ellipse">
            <a:avLst/>
          </a:prstGeom>
          <a:solidFill>
            <a:srgbClr val="16243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3191256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302666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Members, visitors, leaders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463040" y="3337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you can change, so you know who’s who.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3959352"/>
            <a:ext cx="457200" cy="457200"/>
          </a:xfrm>
          <a:prstGeom prst="ellipse">
            <a:avLst/>
          </a:prstGeom>
          <a:solidFill>
            <a:srgbClr val="C97B1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4087368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63040" y="392277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and full profiles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463040" y="42336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Phone, email, birthday, occupation, how they found you.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22960" y="4855464"/>
            <a:ext cx="457200" cy="457200"/>
          </a:xfrm>
          <a:prstGeom prst="ellipse">
            <a:avLst/>
          </a:prstGeom>
          <a:solidFill>
            <a:srgbClr val="16243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983480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481888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 to Excel anytime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463040" y="512978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is yours — one click to download it all.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949440" y="1417320"/>
            <a:ext cx="4434840" cy="475488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E4DFD5"/>
            </a:solidFill>
            <a:prstDash val="solid"/>
          </a:ln>
          <a:effectLst>
            <a:outerShdw sx="100000" sy="100000" kx="0" ky="0" algn="bl" rotWithShape="0" blurRad="177800" dist="63500" dir="5400000">
              <a:srgbClr val="B8B2A6">
                <a:alpha val="4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0" y="1783080"/>
            <a:ext cx="3703320" cy="457200"/>
          </a:xfrm>
          <a:prstGeom prst="roundRect">
            <a:avLst>
              <a:gd name="adj" fmla="val 20000"/>
            </a:avLst>
          </a:prstGeom>
          <a:solidFill>
            <a:srgbClr val="F8F4E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7498080" y="1911096"/>
            <a:ext cx="182880" cy="1828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818120" y="17830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9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name or phone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7315200" y="2468880"/>
            <a:ext cx="420624" cy="420624"/>
          </a:xfrm>
          <a:prstGeom prst="ellipse">
            <a:avLst/>
          </a:prstGeom>
          <a:solidFill>
            <a:srgbClr val="EDE7DC"/>
          </a:solidFill>
          <a:ln/>
        </p:spPr>
      </p:sp>
      <p:sp>
        <p:nvSpPr>
          <p:cNvPr id="24" name="Text 18"/>
          <p:cNvSpPr/>
          <p:nvPr/>
        </p:nvSpPr>
        <p:spPr>
          <a:xfrm>
            <a:off x="7315200" y="2468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6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7863840" y="2468880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Abena Sarpong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10012680" y="2487168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F8F4EE"/>
          </a:solidFill>
          <a:ln/>
        </p:spPr>
      </p:sp>
      <p:sp>
        <p:nvSpPr>
          <p:cNvPr id="27" name="Text 21"/>
          <p:cNvSpPr/>
          <p:nvPr/>
        </p:nvSpPr>
        <p:spPr>
          <a:xfrm>
            <a:off x="10012680" y="248716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7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7315200" y="3127248"/>
            <a:ext cx="420624" cy="420624"/>
          </a:xfrm>
          <a:prstGeom prst="ellipse">
            <a:avLst/>
          </a:prstGeom>
          <a:solidFill>
            <a:srgbClr val="EDE7DC"/>
          </a:solidFill>
          <a:ln/>
        </p:spPr>
      </p:sp>
      <p:sp>
        <p:nvSpPr>
          <p:cNvPr id="29" name="Text 23"/>
          <p:cNvSpPr/>
          <p:nvPr/>
        </p:nvSpPr>
        <p:spPr>
          <a:xfrm>
            <a:off x="7315200" y="3127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6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7863840" y="3127248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 Kofi Mensah</a:t>
            </a:r>
            <a:endParaRPr lang="en-US" sz="1250" dirty="0"/>
          </a:p>
        </p:txBody>
      </p:sp>
      <p:sp>
        <p:nvSpPr>
          <p:cNvPr id="31" name="Shape 25"/>
          <p:cNvSpPr/>
          <p:nvPr/>
        </p:nvSpPr>
        <p:spPr>
          <a:xfrm>
            <a:off x="10012680" y="3145536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F8F4EE"/>
          </a:solidFill>
          <a:ln/>
        </p:spPr>
      </p:sp>
      <p:sp>
        <p:nvSpPr>
          <p:cNvPr id="32" name="Text 26"/>
          <p:cNvSpPr/>
          <p:nvPr/>
        </p:nvSpPr>
        <p:spPr>
          <a:xfrm>
            <a:off x="10012680" y="314553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7315200" y="3785616"/>
            <a:ext cx="420624" cy="420624"/>
          </a:xfrm>
          <a:prstGeom prst="ellipse">
            <a:avLst/>
          </a:prstGeom>
          <a:solidFill>
            <a:srgbClr val="EDE7DC"/>
          </a:solidFill>
          <a:ln/>
        </p:spPr>
      </p:sp>
      <p:sp>
        <p:nvSpPr>
          <p:cNvPr id="34" name="Text 28"/>
          <p:cNvSpPr/>
          <p:nvPr/>
        </p:nvSpPr>
        <p:spPr>
          <a:xfrm>
            <a:off x="7315200" y="3785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6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7863840" y="3785616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Priscilla Agyeman</a:t>
            </a:r>
            <a:endParaRPr lang="en-US" sz="1250" dirty="0"/>
          </a:p>
        </p:txBody>
      </p:sp>
      <p:sp>
        <p:nvSpPr>
          <p:cNvPr id="36" name="Shape 30"/>
          <p:cNvSpPr/>
          <p:nvPr/>
        </p:nvSpPr>
        <p:spPr>
          <a:xfrm>
            <a:off x="10012680" y="3803904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F8F4EE"/>
          </a:solidFill>
          <a:ln/>
        </p:spPr>
      </p:sp>
      <p:sp>
        <p:nvSpPr>
          <p:cNvPr id="37" name="Text 31"/>
          <p:cNvSpPr/>
          <p:nvPr/>
        </p:nvSpPr>
        <p:spPr>
          <a:xfrm>
            <a:off x="10012680" y="38039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9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</a:t>
            </a:r>
            <a:endParaRPr lang="en-US" sz="1150" dirty="0"/>
          </a:p>
        </p:txBody>
      </p:sp>
      <p:sp>
        <p:nvSpPr>
          <p:cNvPr id="38" name="Shape 32"/>
          <p:cNvSpPr/>
          <p:nvPr/>
        </p:nvSpPr>
        <p:spPr>
          <a:xfrm>
            <a:off x="7315200" y="4443984"/>
            <a:ext cx="420624" cy="420624"/>
          </a:xfrm>
          <a:prstGeom prst="ellipse">
            <a:avLst/>
          </a:prstGeom>
          <a:solidFill>
            <a:srgbClr val="EDE7DC"/>
          </a:solidFill>
          <a:ln/>
        </p:spPr>
      </p:sp>
      <p:sp>
        <p:nvSpPr>
          <p:cNvPr id="39" name="Text 33"/>
          <p:cNvSpPr/>
          <p:nvPr/>
        </p:nvSpPr>
        <p:spPr>
          <a:xfrm>
            <a:off x="7315200" y="4443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6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1300" dirty="0"/>
          </a:p>
        </p:txBody>
      </p:sp>
      <p:sp>
        <p:nvSpPr>
          <p:cNvPr id="40" name="Text 34"/>
          <p:cNvSpPr/>
          <p:nvPr/>
        </p:nvSpPr>
        <p:spPr>
          <a:xfrm>
            <a:off x="7863840" y="4443984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Kwame Osei</a:t>
            </a:r>
            <a:endParaRPr lang="en-US" sz="1250" dirty="0"/>
          </a:p>
        </p:txBody>
      </p:sp>
      <p:sp>
        <p:nvSpPr>
          <p:cNvPr id="41" name="Shape 35"/>
          <p:cNvSpPr/>
          <p:nvPr/>
        </p:nvSpPr>
        <p:spPr>
          <a:xfrm>
            <a:off x="10012680" y="4462272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F8F4EE"/>
          </a:solidFill>
          <a:ln/>
        </p:spPr>
      </p:sp>
      <p:sp>
        <p:nvSpPr>
          <p:cNvPr id="42" name="Text 36"/>
          <p:cNvSpPr/>
          <p:nvPr/>
        </p:nvSpPr>
        <p:spPr>
          <a:xfrm>
            <a:off x="10012680" y="446227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7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150" dirty="0"/>
          </a:p>
        </p:txBody>
      </p:sp>
      <p:sp>
        <p:nvSpPr>
          <p:cNvPr id="43" name="Shape 37"/>
          <p:cNvSpPr/>
          <p:nvPr/>
        </p:nvSpPr>
        <p:spPr>
          <a:xfrm>
            <a:off x="7315200" y="5102352"/>
            <a:ext cx="420624" cy="420624"/>
          </a:xfrm>
          <a:prstGeom prst="ellipse">
            <a:avLst/>
          </a:prstGeom>
          <a:solidFill>
            <a:srgbClr val="EDE7DC"/>
          </a:solidFill>
          <a:ln/>
        </p:spPr>
      </p:sp>
      <p:sp>
        <p:nvSpPr>
          <p:cNvPr id="44" name="Text 38"/>
          <p:cNvSpPr/>
          <p:nvPr/>
        </p:nvSpPr>
        <p:spPr>
          <a:xfrm>
            <a:off x="7315200" y="5102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6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1300" dirty="0"/>
          </a:p>
        </p:txBody>
      </p:sp>
      <p:sp>
        <p:nvSpPr>
          <p:cNvPr id="45" name="Text 39"/>
          <p:cNvSpPr/>
          <p:nvPr/>
        </p:nvSpPr>
        <p:spPr>
          <a:xfrm>
            <a:off x="7863840" y="510235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Linda Asare</a:t>
            </a:r>
            <a:endParaRPr lang="en-US" sz="1250" dirty="0"/>
          </a:p>
        </p:txBody>
      </p:sp>
      <p:sp>
        <p:nvSpPr>
          <p:cNvPr id="46" name="Shape 40"/>
          <p:cNvSpPr/>
          <p:nvPr/>
        </p:nvSpPr>
        <p:spPr>
          <a:xfrm>
            <a:off x="10012680" y="5120640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F8F4EE"/>
          </a:solidFill>
          <a:ln/>
        </p:spPr>
      </p:sp>
      <p:sp>
        <p:nvSpPr>
          <p:cNvPr id="47" name="Text 41"/>
          <p:cNvSpPr/>
          <p:nvPr/>
        </p:nvSpPr>
        <p:spPr>
          <a:xfrm>
            <a:off x="10012680" y="51206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9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548640" cy="548640"/>
          </a:xfrm>
          <a:prstGeom prst="ellipse">
            <a:avLst/>
          </a:prstGeom>
          <a:solidFill>
            <a:srgbClr val="C97B1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58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600200" y="65836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Giving &amp; Receipts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tithes, offerings, seed and pledges — and the giver gets a receipt by email automatically.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063240"/>
            <a:ext cx="457200" cy="457200"/>
          </a:xfrm>
          <a:prstGeom prst="ellipse">
            <a:avLst/>
          </a:prstGeom>
          <a:solidFill>
            <a:srgbClr val="C97B1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3191256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302666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gift type, one place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463040" y="3337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Tithe, offering, seed, pledge — with a monthly breakdown.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3959352"/>
            <a:ext cx="457200" cy="457200"/>
          </a:xfrm>
          <a:prstGeom prst="ellipse">
            <a:avLst/>
          </a:prstGeom>
          <a:solidFill>
            <a:srgbClr val="16243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4087368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63040" y="392277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email receipts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463040" y="42336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gift with an email and the receipt sends itself.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22960" y="4855464"/>
            <a:ext cx="457200" cy="457200"/>
          </a:xfrm>
          <a:prstGeom prst="ellipse">
            <a:avLst/>
          </a:prstGeom>
          <a:solidFill>
            <a:srgbClr val="16243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983480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481888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monthly totals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463040" y="512978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exactly what came in, by type, for any month.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949440" y="1417320"/>
            <a:ext cx="4434840" cy="475488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E4DFD5"/>
            </a:solidFill>
            <a:prstDash val="solid"/>
          </a:ln>
          <a:effectLst>
            <a:outerShdw sx="100000" sy="100000" kx="0" ky="0" algn="bl" rotWithShape="0" blurRad="177800" dist="63500" dir="5400000">
              <a:srgbClr val="B8B2A6">
                <a:alpha val="40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7315200" y="17830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89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THIS MONTH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7315200" y="205740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GHS 4,850.00</a:t>
            </a:r>
            <a:endParaRPr lang="en-US" sz="3000" dirty="0"/>
          </a:p>
        </p:txBody>
      </p:sp>
      <p:sp>
        <p:nvSpPr>
          <p:cNvPr id="22" name="Text 17"/>
          <p:cNvSpPr/>
          <p:nvPr/>
        </p:nvSpPr>
        <p:spPr>
          <a:xfrm>
            <a:off x="7315200" y="2971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7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7863840" y="2971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Tithes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9646920" y="2971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 2,400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7315200" y="36850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7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1"/>
          <p:cNvSpPr/>
          <p:nvPr/>
        </p:nvSpPr>
        <p:spPr>
          <a:xfrm>
            <a:off x="7863840" y="36850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Offerings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9646920" y="36850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 1,300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7315200" y="439826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7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4"/>
          <p:cNvSpPr/>
          <p:nvPr/>
        </p:nvSpPr>
        <p:spPr>
          <a:xfrm>
            <a:off x="7863840" y="439826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9646920" y="439826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 750</a:t>
            </a:r>
            <a:endParaRPr lang="en-US" sz="1250" dirty="0"/>
          </a:p>
        </p:txBody>
      </p:sp>
      <p:sp>
        <p:nvSpPr>
          <p:cNvPr id="31" name="Text 26"/>
          <p:cNvSpPr/>
          <p:nvPr/>
        </p:nvSpPr>
        <p:spPr>
          <a:xfrm>
            <a:off x="7315200" y="511149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7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32" name="Text 27"/>
          <p:cNvSpPr/>
          <p:nvPr/>
        </p:nvSpPr>
        <p:spPr>
          <a:xfrm>
            <a:off x="7863840" y="511149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Pledges</a:t>
            </a:r>
            <a:endParaRPr lang="en-US" sz="1300" dirty="0"/>
          </a:p>
        </p:txBody>
      </p:sp>
      <p:sp>
        <p:nvSpPr>
          <p:cNvPr id="33" name="Text 28"/>
          <p:cNvSpPr/>
          <p:nvPr/>
        </p:nvSpPr>
        <p:spPr>
          <a:xfrm>
            <a:off x="9646920" y="511149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 400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548640" cy="548640"/>
          </a:xfrm>
          <a:prstGeom prst="ellipse">
            <a:avLst/>
          </a:prstGeom>
          <a:solidFill>
            <a:srgbClr val="C97B1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58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600200" y="65836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You Can Act On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paper never gave you: is the church growing, and who is quietly slipping away?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063240"/>
            <a:ext cx="457200" cy="457200"/>
          </a:xfrm>
          <a:prstGeom prst="ellipse">
            <a:avLst/>
          </a:prstGeom>
          <a:solidFill>
            <a:srgbClr val="16243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3191256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302666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trend, month by month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463040" y="3337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growth — or decline — before it’s too late.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3959352"/>
            <a:ext cx="457200" cy="457200"/>
          </a:xfrm>
          <a:prstGeom prst="ellipse">
            <a:avLst/>
          </a:prstGeom>
          <a:solidFill>
            <a:srgbClr val="C97B1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4087368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63040" y="392277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vs returning, and retention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463040" y="42336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first-timers actually come back.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22960" y="4855464"/>
            <a:ext cx="457200" cy="457200"/>
          </a:xfrm>
          <a:prstGeom prst="ellipse">
            <a:avLst/>
          </a:prstGeom>
          <a:solidFill>
            <a:srgbClr val="16243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983480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481888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your people are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463040" y="512978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gender, area, occupation, most faithful attenders.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949440" y="1417320"/>
            <a:ext cx="4434840" cy="475488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E4DFD5"/>
            </a:solidFill>
            <a:prstDash val="solid"/>
          </a:ln>
          <a:effectLst>
            <a:outerShdw sx="100000" sy="100000" kx="0" ky="0" algn="bl" rotWithShape="0" blurRad="177800" dist="63500" dir="5400000">
              <a:srgbClr val="B8B2A6">
                <a:alpha val="40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7315200" y="17373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89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LAST 6 MONTHS</a:t>
            </a:r>
            <a:endParaRPr lang="en-US" sz="10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7178040" y="2103120"/>
          <a:ext cx="397764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2" name="Shape 16"/>
          <p:cNvSpPr/>
          <p:nvPr/>
        </p:nvSpPr>
        <p:spPr>
          <a:xfrm>
            <a:off x="7315200" y="4297680"/>
            <a:ext cx="3703320" cy="0"/>
          </a:xfrm>
          <a:prstGeom prst="line">
            <a:avLst/>
          </a:prstGeom>
          <a:noFill/>
          <a:ln w="12700">
            <a:solidFill>
              <a:srgbClr val="E4DFD5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315200" y="4480560"/>
            <a:ext cx="18516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E7D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67%</a:t>
            </a:r>
            <a:endParaRPr lang="en-US" sz="2400" dirty="0"/>
          </a:p>
        </p:txBody>
      </p:sp>
      <p:sp>
        <p:nvSpPr>
          <p:cNvPr id="24" name="Text 18"/>
          <p:cNvSpPr/>
          <p:nvPr/>
        </p:nvSpPr>
        <p:spPr>
          <a:xfrm>
            <a:off x="7315200" y="4965192"/>
            <a:ext cx="1851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9166860" y="4480560"/>
            <a:ext cx="18516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97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6" name="Text 20"/>
          <p:cNvSpPr/>
          <p:nvPr/>
        </p:nvSpPr>
        <p:spPr>
          <a:xfrm>
            <a:off x="9166860" y="4965192"/>
            <a:ext cx="1851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this month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548640" cy="548640"/>
          </a:xfrm>
          <a:prstGeom prst="ellipse">
            <a:avLst/>
          </a:prstGeom>
          <a:solidFill>
            <a:srgbClr val="C97B1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58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600200" y="65836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Emails That Send Themselves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words once. The app sends the right message, to the right person, at the right time.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063240"/>
            <a:ext cx="457200" cy="457200"/>
          </a:xfrm>
          <a:prstGeom prst="ellipse">
            <a:avLst/>
          </a:prstGeom>
          <a:solidFill>
            <a:srgbClr val="C97B1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3191256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302666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Welcome, birthday &amp; we-miss-you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463040" y="3337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Automatic, personalised with each person’s name.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3959352"/>
            <a:ext cx="457200" cy="457200"/>
          </a:xfrm>
          <a:prstGeom prst="ellipse">
            <a:avLst/>
          </a:prstGeom>
          <a:solidFill>
            <a:srgbClr val="16243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4087368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63040" y="392277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Broadcast to any group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463040" y="42336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Everyone, first-timers, or people who’ve gone quiet.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22960" y="4855464"/>
            <a:ext cx="457200" cy="457200"/>
          </a:xfrm>
          <a:prstGeom prst="ellipse">
            <a:avLst/>
          </a:prstGeom>
          <a:solidFill>
            <a:srgbClr val="16243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983480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481888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report on demand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463040" y="512978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Emailed as a spreadsheet — who came and who was absent.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949440" y="1417320"/>
            <a:ext cx="4434840" cy="475488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E4DFD5"/>
            </a:solidFill>
            <a:prstDash val="solid"/>
          </a:ln>
          <a:effectLst>
            <a:outerShdw sx="100000" sy="100000" kx="0" ky="0" algn="bl" rotWithShape="0" blurRad="177800" dist="63500" dir="5400000">
              <a:srgbClr val="B8B2A6">
                <a:alpha val="4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949440" y="1417320"/>
            <a:ext cx="4434840" cy="1005840"/>
          </a:xfrm>
          <a:prstGeom prst="roundRect">
            <a:avLst>
              <a:gd name="adj" fmla="val 10909"/>
            </a:avLst>
          </a:prstGeom>
          <a:solidFill>
            <a:srgbClr val="16243A"/>
          </a:solidFill>
          <a:ln/>
        </p:spPr>
      </p:sp>
      <p:sp>
        <p:nvSpPr>
          <p:cNvPr id="21" name="Text 16"/>
          <p:cNvSpPr/>
          <p:nvPr/>
        </p:nvSpPr>
        <p:spPr>
          <a:xfrm>
            <a:off x="7315200" y="169164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Welcome to Grace Chapel!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7315200" y="207568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 Abena, we’re so glad you joined us today…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7315200" y="26974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89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AUTOMATICALLY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7315200" y="3108960"/>
            <a:ext cx="402336" cy="402336"/>
          </a:xfrm>
          <a:prstGeom prst="ellipse">
            <a:avLst/>
          </a:prstGeom>
          <a:solidFill>
            <a:srgbClr val="C97B1A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4072" y="3227832"/>
            <a:ext cx="164592" cy="16459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863840" y="309067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email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7863840" y="332841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first visit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7315200" y="3767328"/>
            <a:ext cx="402336" cy="402336"/>
          </a:xfrm>
          <a:prstGeom prst="ellipse">
            <a:avLst/>
          </a:prstGeom>
          <a:solidFill>
            <a:srgbClr val="16243A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4072" y="3886200"/>
            <a:ext cx="164592" cy="16459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863840" y="37490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Birthday email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7863840" y="398678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day, every year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7315200" y="4425696"/>
            <a:ext cx="402336" cy="402336"/>
          </a:xfrm>
          <a:prstGeom prst="ellipse">
            <a:avLst/>
          </a:prstGeom>
          <a:solidFill>
            <a:srgbClr val="2E7D4E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4072" y="4544568"/>
            <a:ext cx="164592" cy="16459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863840" y="440740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We-miss-you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7863840" y="464515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2 missed weeks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58368"/>
            <a:ext cx="548640" cy="548640"/>
          </a:xfrm>
          <a:prstGeom prst="ellipse">
            <a:avLst/>
          </a:prstGeom>
          <a:solidFill>
            <a:srgbClr val="C97B1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58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600200" y="65836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7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It Yours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one-time settings and the whole experience — kiosk and emails — carries your church’s identity.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063240"/>
            <a:ext cx="457200" cy="457200"/>
          </a:xfrm>
          <a:prstGeom prst="ellipse">
            <a:avLst/>
          </a:prstGeom>
          <a:solidFill>
            <a:srgbClr val="16243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3191256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302666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branding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463040" y="3337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Logo, colour, welcome message on the kiosk screen.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3959352"/>
            <a:ext cx="457200" cy="457200"/>
          </a:xfrm>
          <a:prstGeom prst="ellipse">
            <a:avLst/>
          </a:prstGeom>
          <a:solidFill>
            <a:srgbClr val="C97B1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4087368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63040" y="392277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kiosk access code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463040" y="42336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choose it; change it any time a volunteer leaves.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22960" y="4855464"/>
            <a:ext cx="457200" cy="457200"/>
          </a:xfrm>
          <a:prstGeom prst="ellipse">
            <a:avLst/>
          </a:prstGeom>
          <a:solidFill>
            <a:srgbClr val="16243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983480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481888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 details on every email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463040" y="512978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A6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and phone appear in the footer automatically.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949440" y="1417320"/>
            <a:ext cx="4434840" cy="475488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E4DFD5"/>
            </a:solidFill>
            <a:prstDash val="solid"/>
          </a:ln>
          <a:effectLst>
            <a:outerShdw sx="100000" sy="100000" kx="0" ky="0" algn="bl" rotWithShape="0" blurRad="177800" dist="63500" dir="5400000">
              <a:srgbClr val="B8B2A6">
                <a:alpha val="40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7315200" y="17373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89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KIOSK PREVIEW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7315200" y="2103120"/>
            <a:ext cx="3703320" cy="1554480"/>
          </a:xfrm>
          <a:prstGeom prst="roundRect">
            <a:avLst>
              <a:gd name="adj" fmla="val 5882"/>
            </a:avLst>
          </a:prstGeom>
          <a:solidFill>
            <a:srgbClr val="16243A"/>
          </a:solidFill>
          <a:ln/>
        </p:spPr>
      </p:sp>
      <p:sp>
        <p:nvSpPr>
          <p:cNvPr id="22" name="Text 17"/>
          <p:cNvSpPr/>
          <p:nvPr/>
        </p:nvSpPr>
        <p:spPr>
          <a:xfrm>
            <a:off x="7315200" y="256032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Welcome to Grace Chapel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7315200" y="29260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We’re glad you’re here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7315200" y="3931920"/>
            <a:ext cx="3703320" cy="822960"/>
          </a:xfrm>
          <a:prstGeom prst="roundRect">
            <a:avLst>
              <a:gd name="adj" fmla="val 11111"/>
            </a:avLst>
          </a:prstGeom>
          <a:solidFill>
            <a:srgbClr val="F8F4EE"/>
          </a:solidFill>
          <a:ln w="12700">
            <a:solidFill>
              <a:srgbClr val="E4DFD5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7543800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9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KIOSK CODE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7543800" y="4343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200" kern="0" dirty="0">
                <a:solidFill>
                  <a:srgbClr val="16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GRACE24</a:t>
            </a:r>
            <a:endParaRPr lang="en-US" sz="2000" dirty="0"/>
          </a:p>
        </p:txBody>
      </p:sp>
      <p:sp>
        <p:nvSpPr>
          <p:cNvPr id="27" name="Shape 22"/>
          <p:cNvSpPr/>
          <p:nvPr/>
        </p:nvSpPr>
        <p:spPr>
          <a:xfrm>
            <a:off x="10378440" y="4114800"/>
            <a:ext cx="457200" cy="457200"/>
          </a:xfrm>
          <a:prstGeom prst="ellipse">
            <a:avLst/>
          </a:prstGeom>
          <a:solidFill>
            <a:srgbClr val="C97B1A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0" y="4251960"/>
            <a:ext cx="18288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2743200"/>
            <a:ext cx="7315200" cy="7315200"/>
          </a:xfrm>
          <a:prstGeom prst="ellipse">
            <a:avLst/>
          </a:prstGeom>
          <a:solidFill>
            <a:srgbClr val="C97B1A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2296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C97B1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969264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83210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SwiftEntryPro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822960" y="214884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tap at the door —
</a:t>
            </a:r>
            <a:pPr indent="0" marL="0">
              <a:lnSpc>
                <a:spcPct val="105000"/>
              </a:lnSpc>
              <a:buNone/>
            </a:pPr>
            <a:r>
              <a:rPr lang="en-US" sz="4200" i="1" dirty="0">
                <a:solidFill>
                  <a:srgbClr val="F0A8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else, handled.</a:t>
            </a:r>
            <a:endParaRPr lang="en-US" sz="4200" dirty="0"/>
          </a:p>
        </p:txBody>
      </p:sp>
      <p:sp>
        <p:nvSpPr>
          <p:cNvPr id="7" name="Shape 4"/>
          <p:cNvSpPr/>
          <p:nvPr/>
        </p:nvSpPr>
        <p:spPr>
          <a:xfrm>
            <a:off x="822960" y="3977640"/>
            <a:ext cx="1920240" cy="502920"/>
          </a:xfrm>
          <a:prstGeom prst="roundRect">
            <a:avLst>
              <a:gd name="adj" fmla="val 49091"/>
            </a:avLst>
          </a:prstGeom>
          <a:solidFill>
            <a:srgbClr val="20304A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3977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971800" y="3977640"/>
            <a:ext cx="1920240" cy="502920"/>
          </a:xfrm>
          <a:prstGeom prst="roundRect">
            <a:avLst>
              <a:gd name="adj" fmla="val 49091"/>
            </a:avLst>
          </a:prstGeom>
          <a:solidFill>
            <a:srgbClr val="20304A"/>
          </a:solidFill>
          <a:ln/>
        </p:spPr>
      </p:sp>
      <p:sp>
        <p:nvSpPr>
          <p:cNvPr id="10" name="Text 7"/>
          <p:cNvSpPr/>
          <p:nvPr/>
        </p:nvSpPr>
        <p:spPr>
          <a:xfrm>
            <a:off x="2971800" y="3977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120640" y="3977640"/>
            <a:ext cx="1920240" cy="502920"/>
          </a:xfrm>
          <a:prstGeom prst="roundRect">
            <a:avLst>
              <a:gd name="adj" fmla="val 49091"/>
            </a:avLst>
          </a:prstGeom>
          <a:solidFill>
            <a:srgbClr val="20304A"/>
          </a:solidFill>
          <a:ln/>
        </p:spPr>
      </p:sp>
      <p:sp>
        <p:nvSpPr>
          <p:cNvPr id="12" name="Text 9"/>
          <p:cNvSpPr/>
          <p:nvPr/>
        </p:nvSpPr>
        <p:spPr>
          <a:xfrm>
            <a:off x="5120640" y="3977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269480" y="3977640"/>
            <a:ext cx="1920240" cy="502920"/>
          </a:xfrm>
          <a:prstGeom prst="roundRect">
            <a:avLst>
              <a:gd name="adj" fmla="val 49091"/>
            </a:avLst>
          </a:prstGeom>
          <a:solidFill>
            <a:srgbClr val="20304A"/>
          </a:solidFill>
          <a:ln/>
        </p:spPr>
      </p:sp>
      <p:sp>
        <p:nvSpPr>
          <p:cNvPr id="14" name="Text 11"/>
          <p:cNvSpPr/>
          <p:nvPr/>
        </p:nvSpPr>
        <p:spPr>
          <a:xfrm>
            <a:off x="7269480" y="3977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9418320" y="3977640"/>
            <a:ext cx="1920240" cy="502920"/>
          </a:xfrm>
          <a:prstGeom prst="roundRect">
            <a:avLst>
              <a:gd name="adj" fmla="val 49091"/>
            </a:avLst>
          </a:prstGeom>
          <a:solidFill>
            <a:srgbClr val="20304A"/>
          </a:solidFill>
          <a:ln/>
        </p:spPr>
      </p:sp>
      <p:sp>
        <p:nvSpPr>
          <p:cNvPr id="16" name="Text 13"/>
          <p:cNvSpPr/>
          <p:nvPr/>
        </p:nvSpPr>
        <p:spPr>
          <a:xfrm>
            <a:off x="9418320" y="3977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22960" y="4937760"/>
            <a:ext cx="3200400" cy="685800"/>
          </a:xfrm>
          <a:prstGeom prst="roundRect">
            <a:avLst>
              <a:gd name="adj" fmla="val 13333"/>
            </a:avLst>
          </a:prstGeom>
          <a:solidFill>
            <a:srgbClr val="C97B1A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49377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free for 14 days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22960" y="5806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9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credit card  ·  Set up in 5 minutes  ·  Cancel any time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2026-07-25T08:36:08Z</dcterms:created>
  <dcterms:modified xsi:type="dcterms:W3CDTF">2026-07-25T08:36:08Z</dcterms:modified>
</cp:coreProperties>
</file>