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</c:v>
                </c:pt>
              </c:strCache>
            </c:strRef>
          </c:tx>
          <c:spPr>
            <a:solidFill>
              <a:srgbClr val="F0A832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186</c:v>
                </c:pt>
                <c:pt idx="1">
                  <c:v>205</c:v>
                </c:pt>
                <c:pt idx="2">
                  <c:v>214</c:v>
                </c:pt>
                <c:pt idx="3">
                  <c:v>232</c:v>
                </c:pt>
                <c:pt idx="4">
                  <c:v>248</c:v>
                </c:pt>
                <c:pt idx="5">
                  <c:v>271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C6C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warm: church check-in made simple. One line — we help you know who walked through your door, every Sunday, without paper or spreadsheets.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to raise hands. These are the three pains every growing church feels. Sit in the problem for a moment before showing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pitch in one line: one tablet at the door, everything else runs itself. Three pillars — check-in, automatic caring emails, and clear insight.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 the biggest objection early: it is genuinely easy. Four steps, minutes, no IT person. This is where you can switch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 without bloat. Everything a growing church needs, nothing it does not. Point out giving and offline — the two that usually surprise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from features to outcome: you finally see the trend. Tell the story — this church caught a 3-month decline they never would have noticed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Growth — most popular, best value. Emphasise no per-member charge and cancel any time; that removes the risk for a cautious church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mission, not the tool: every person who walks in deserves to feel known. Then the ask — start a free 14-day trial today, no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0A83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97B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92354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78638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SwiftEntryPro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your congregation.
</a:t>
            </a:r>
            <a:pPr indent="0" marL="0">
              <a:lnSpc>
                <a:spcPct val="102000"/>
              </a:lnSpc>
              <a:buNone/>
            </a:pPr>
            <a:r>
              <a:rPr lang="en-US" sz="5400" i="1" dirty="0">
                <a:solidFill>
                  <a:srgbClr val="F0A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Sunday.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44805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 check-in tablet for your church door — so you spend less time taking attendance and more time knowing your people.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check-in, made simple.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familiar?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8F4EE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651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“Are we growing or shrinking?”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3000" y="38862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disappear. Spreadsheets never get updated. You have no real picture of your church.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22860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8F4EE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2651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“Someone stopped coming — nobody noticed.”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46320" y="38862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system, people slip away quietly. By the time anyone realises, it’s too late to reach out.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22860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8F4EE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651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“Sunday check-in is chaos.”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49640" y="38862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queues, messy handwriting, lost visitors. First impressions matter most for the newcomer.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715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churches still run attendance on paper — or with tools never built for them.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8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tablet at the door.
</a:t>
            </a:r>
            <a:pPr indent="0" marL="0">
              <a:lnSpc>
                <a:spcPct val="103000"/>
              </a:lnSpc>
              <a:buNone/>
            </a:pPr>
            <a:r>
              <a:rPr lang="en-US" sz="3800" i="1" dirty="0">
                <a:solidFill>
                  <a:srgbClr val="C9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 runs itself.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868680" cy="86868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3163824"/>
            <a:ext cx="393192" cy="393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Effortless check-in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4480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tap their name in seconds. First-timers fill a 30-second form. No app, no training.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26280" y="2926080"/>
            <a:ext cx="868680" cy="86868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163824"/>
            <a:ext cx="393192" cy="393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628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Emails that send themselves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526280" y="4480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birthday and “we miss you” notes go out automatically, each with the person’s name.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0" y="2926080"/>
            <a:ext cx="868680" cy="86868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163824"/>
            <a:ext cx="393192" cy="393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your church clearly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8229600" y="4480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Who’s new, who’s growing, who hasn’t come in a while — real numbers to pastor better.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and running in minutes.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822960" cy="822960"/>
          </a:xfrm>
          <a:prstGeom prst="ellipse">
            <a:avLst/>
          </a:prstGeom>
          <a:solidFill>
            <a:srgbClr val="C97B1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755648" y="29443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57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 and enter your church name. Two minutes.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685032" y="2651760"/>
            <a:ext cx="822960" cy="822960"/>
          </a:xfrm>
          <a:prstGeom prst="ellipse">
            <a:avLst/>
          </a:prstGeom>
          <a:solidFill>
            <a:srgbClr val="C97B1A"/>
          </a:solidFill>
          <a:ln/>
        </p:spPr>
      </p:sp>
      <p:sp>
        <p:nvSpPr>
          <p:cNvPr id="10" name="Text 7"/>
          <p:cNvSpPr/>
          <p:nvPr/>
        </p:nvSpPr>
        <p:spPr>
          <a:xfrm>
            <a:off x="3685032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4617720" y="29443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657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kiosk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685032" y="41148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check-in screen on any tablet or phone at your door.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547104" y="2651760"/>
            <a:ext cx="822960" cy="822960"/>
          </a:xfrm>
          <a:prstGeom prst="ellipse">
            <a:avLst/>
          </a:prstGeom>
          <a:solidFill>
            <a:srgbClr val="C97B1A"/>
          </a:solidFill>
          <a:ln/>
        </p:spPr>
      </p:sp>
      <p:sp>
        <p:nvSpPr>
          <p:cNvPr id="15" name="Text 11"/>
          <p:cNvSpPr/>
          <p:nvPr/>
        </p:nvSpPr>
        <p:spPr>
          <a:xfrm>
            <a:off x="6547104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7479792" y="29443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657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check in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547104" y="41148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tap their name. New visitors fill a quick form.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409176" y="2651760"/>
            <a:ext cx="822960" cy="822960"/>
          </a:xfrm>
          <a:prstGeom prst="ellipse">
            <a:avLst/>
          </a:prstGeom>
          <a:solidFill>
            <a:srgbClr val="C97B1A"/>
          </a:solidFill>
          <a:ln/>
        </p:spPr>
      </p:sp>
      <p:sp>
        <p:nvSpPr>
          <p:cNvPr id="20" name="Text 15"/>
          <p:cNvSpPr/>
          <p:nvPr/>
        </p:nvSpPr>
        <p:spPr>
          <a:xfrm>
            <a:off x="9409176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9409176" y="3657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handle the rest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9409176" y="41148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send automatically. Your dashboard updates live.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person. No installation. If you can open a website, you can run 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your church needs.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658368" cy="658368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774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4208" y="214884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check-in kiosk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64208" y="2606040"/>
            <a:ext cx="2587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Beautiful, fast, and offline-ready at your entrance.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2194560"/>
            <a:ext cx="658368" cy="65836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774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13248" y="214884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caring emails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413248" y="2606040"/>
            <a:ext cx="2587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birthday and we-miss-you — set once, runs forever.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321040" y="2194560"/>
            <a:ext cx="658368" cy="658368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37744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62288" y="214884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insights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9162288" y="2606040"/>
            <a:ext cx="2587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retention, who’s slipping away — at a glance.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658368" cy="65836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5196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64208" y="402336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people, organised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664208" y="4480560"/>
            <a:ext cx="2587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member, visitor and leader searchable in one place.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0" y="4069080"/>
            <a:ext cx="658368" cy="658368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5196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13248" y="402336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&amp; receipts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5413248" y="4480560"/>
            <a:ext cx="2587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tithes and offerings, email receipts instantly.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321040" y="4069080"/>
            <a:ext cx="658368" cy="65836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25196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162288" y="402336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even offline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9162288" y="4480560"/>
            <a:ext cx="2587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wifi? Check-in keeps working and syncs later.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486400" cy="5486400"/>
          </a:xfrm>
          <a:prstGeom prst="ellipse">
            <a:avLst/>
          </a:prstGeom>
          <a:solidFill>
            <a:srgbClr val="F0A832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numbers, every week.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A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17520" y="24323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 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A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017520" y="366674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A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017520" y="49011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&amp; welcome emails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last 6 months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309360" y="24688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honest pricing.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fees. No per-member charges. Cancel any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GHS 80</a:t>
            </a:r>
            <a:pPr indent="0" marL="0">
              <a:buNone/>
            </a:pPr>
            <a:r>
              <a:rPr lang="en-US" sz="130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month</a:t>
            </a:r>
            <a:endParaRPr lang="en-US" sz="3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188720" y="3922776"/>
            <a:ext cx="146304" cy="146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3840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members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188720" y="4398264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4752" y="4315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kiosk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188720" y="4873752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44752" y="47914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welcome email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188720" y="5349240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44752" y="52669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analytics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4526280" y="214884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16243A"/>
          </a:solidFill>
          <a:ln w="12700">
            <a:solidFill>
              <a:srgbClr val="16243A"/>
            </a:solidFill>
            <a:prstDash val="solid"/>
          </a:ln>
          <a:effectLst>
            <a:outerShdw sx="100000" sy="100000" kx="0" ky="0" algn="bl" rotWithShape="0" blurRad="152400" dist="50800" dir="5400000">
              <a:srgbClr val="9A9488">
                <a:alpha val="45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484632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84632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484632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GHS 150</a:t>
            </a:r>
            <a:pPr indent="0" marL="0">
              <a:buNone/>
            </a:pPr>
            <a:r>
              <a:rPr lang="en-US" sz="13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month</a:t>
            </a:r>
            <a:endParaRPr lang="en-US" sz="3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059936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48072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 members</a:t>
            </a:r>
            <a:endParaRPr lang="en-US" sz="13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535424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48072" y="44531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&amp; we-miss-you emails</a:t>
            </a:r>
            <a:endParaRPr lang="en-US" sz="13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5010912"/>
            <a:ext cx="146304" cy="14630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48072" y="49286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messaging</a:t>
            </a:r>
            <a:endParaRPr lang="en-US" sz="13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5486400"/>
            <a:ext cx="146304" cy="14630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48072" y="54041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analytics + export</a:t>
            </a:r>
            <a:endParaRPr lang="en-US" sz="1350" dirty="0"/>
          </a:p>
        </p:txBody>
      </p:sp>
      <p:sp>
        <p:nvSpPr>
          <p:cNvPr id="28" name="Shape 18"/>
          <p:cNvSpPr/>
          <p:nvPr/>
        </p:nvSpPr>
        <p:spPr>
          <a:xfrm>
            <a:off x="8229600" y="237744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854964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Church+</a:t>
            </a:r>
            <a:endParaRPr lang="en-US" sz="2200" dirty="0"/>
          </a:p>
        </p:txBody>
      </p:sp>
      <p:sp>
        <p:nvSpPr>
          <p:cNvPr id="30" name="Text 20"/>
          <p:cNvSpPr/>
          <p:nvPr/>
        </p:nvSpPr>
        <p:spPr>
          <a:xfrm>
            <a:off x="854964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GHS 300</a:t>
            </a:r>
            <a:pPr indent="0" marL="0">
              <a:buNone/>
            </a:pPr>
            <a:r>
              <a:rPr lang="en-US" sz="130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month</a:t>
            </a:r>
            <a:endParaRPr lang="en-US" sz="34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8595360" y="3922776"/>
            <a:ext cx="146304" cy="14630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851392" y="3840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members</a:t>
            </a:r>
            <a:endParaRPr lang="en-US" sz="13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>
            <a:off x="8595360" y="4398264"/>
            <a:ext cx="146304" cy="146304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851392" y="4315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&amp; receipts</a:t>
            </a:r>
            <a:endParaRPr lang="en-US" sz="13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>
            <a:off x="8595360" y="4873752"/>
            <a:ext cx="146304" cy="146304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8851392" y="47914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kiosk branding</a:t>
            </a:r>
            <a:endParaRPr lang="en-US" sz="135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>
            <a:off x="8595360" y="5349240"/>
            <a:ext cx="146304" cy="146304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8851392" y="52669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2926080"/>
            <a:ext cx="7315200" cy="7315200"/>
          </a:xfrm>
          <a:prstGeom prst="ellipse">
            <a:avLst/>
          </a:prstGeom>
          <a:solidFill>
            <a:srgbClr val="C97B1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97B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96926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8321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SwiftEntryPro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congregation deserves
</a:t>
            </a:r>
            <a:pPr indent="0" marL="0">
              <a:lnSpc>
                <a:spcPct val="105000"/>
              </a:lnSpc>
              <a:buNone/>
            </a:pPr>
            <a:r>
              <a:rPr lang="en-US" sz="4600" i="1" dirty="0">
                <a:solidFill>
                  <a:srgbClr val="F0A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feel seen.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822960" y="466344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C97B1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663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for 14 days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532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 ·  Cancel any time  ·  Set up in 5 minutes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2026-07-25T08:11:24Z</dcterms:created>
  <dcterms:modified xsi:type="dcterms:W3CDTF">2026-07-25T08:11:24Z</dcterms:modified>
</cp:coreProperties>
</file>